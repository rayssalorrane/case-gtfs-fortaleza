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2000209-5ba7-8f30-4205-9774f41540e9}">
          <p14:sldIdLst>
            <p14:sldId id="256"/>
          </p14:sldIdLst>
        </p14:section>
        <p14:section name="Desafio 1 – GTFS em Fortaleza" id="{9b9af760-f3c9-6664-f1a0-321b06de99c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Desafio 2 – Apoio ao município" id="{7f0e37b0-4ced-41de-b8d5-3b9a071137bb}">
          <p14:sldIdLst>
            <p14:sldId id="265"/>
            <p14:sldId id="266"/>
            <p14:sldId id="267"/>
          </p14:sldIdLst>
        </p14:section>
        <p14:section name="Encerramento" id="{09d644ba-3211-2561-9ef9-3ad8d13bd4dd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34"/>
                </a:solidFill>
                <a:latin typeface="+mn-lt"/>
              </a:rPr>
              <a:t>Ônibus em operação ao longo do dia (a cada 10 min)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Sábado</c:v>
                </c:pt>
              </c:strCache>
            </c:strRef>
          </c:tx>
          <c:spPr>
            <a:solidFill>
              <a:srgbClr val="0E5E6F"/>
            </a:solidFill>
            <a:ln w="31750" cap="flat">
              <a:solidFill>
                <a:srgbClr val="0E5E6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5E6F"/>
              </a:solidFill>
              <a:ln w="9525" cap="flat">
                <a:solidFill>
                  <a:srgbClr val="0E5E6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Sheet1!$A$2:$A$122</c:f>
              <c:multiLvlStrCache>
                <c:ptCount val="121"/>
                <c:lvl>
                  <c:pt idx="0">
                    <c:v>04h</c:v>
                  </c:pt>
                  <c:pt idx="1">
                    <c:v>04:10</c:v>
                  </c:pt>
                  <c:pt idx="2">
                    <c:v>04:20</c:v>
                  </c:pt>
                  <c:pt idx="3">
                    <c:v>04:30</c:v>
                  </c:pt>
                  <c:pt idx="4">
                    <c:v>04:40</c:v>
                  </c:pt>
                  <c:pt idx="5">
                    <c:v>04:50</c:v>
                  </c:pt>
                  <c:pt idx="6">
                    <c:v>05h</c:v>
                  </c:pt>
                  <c:pt idx="7">
                    <c:v>05:10</c:v>
                  </c:pt>
                  <c:pt idx="8">
                    <c:v>05:20</c:v>
                  </c:pt>
                  <c:pt idx="9">
                    <c:v>05:30</c:v>
                  </c:pt>
                  <c:pt idx="10">
                    <c:v>05:40</c:v>
                  </c:pt>
                  <c:pt idx="11">
                    <c:v>05:50</c:v>
                  </c:pt>
                  <c:pt idx="12">
                    <c:v>06h</c:v>
                  </c:pt>
                  <c:pt idx="13">
                    <c:v>06:10</c:v>
                  </c:pt>
                  <c:pt idx="14">
                    <c:v>06:20</c:v>
                  </c:pt>
                  <c:pt idx="15">
                    <c:v>06:30</c:v>
                  </c:pt>
                  <c:pt idx="16">
                    <c:v>06:40</c:v>
                  </c:pt>
                  <c:pt idx="17">
                    <c:v>06:50</c:v>
                  </c:pt>
                  <c:pt idx="18">
                    <c:v>07h</c:v>
                  </c:pt>
                  <c:pt idx="19">
                    <c:v>07:10</c:v>
                  </c:pt>
                  <c:pt idx="20">
                    <c:v>07:20</c:v>
                  </c:pt>
                  <c:pt idx="21">
                    <c:v>07:30</c:v>
                  </c:pt>
                  <c:pt idx="22">
                    <c:v>07:40</c:v>
                  </c:pt>
                  <c:pt idx="23">
                    <c:v>07:50</c:v>
                  </c:pt>
                  <c:pt idx="24">
                    <c:v>08h</c:v>
                  </c:pt>
                  <c:pt idx="25">
                    <c:v>08:10</c:v>
                  </c:pt>
                  <c:pt idx="26">
                    <c:v>08:20</c:v>
                  </c:pt>
                  <c:pt idx="27">
                    <c:v>08:30</c:v>
                  </c:pt>
                  <c:pt idx="28">
                    <c:v>08:40</c:v>
                  </c:pt>
                  <c:pt idx="29">
                    <c:v>08:50</c:v>
                  </c:pt>
                  <c:pt idx="30">
                    <c:v>09h</c:v>
                  </c:pt>
                  <c:pt idx="31">
                    <c:v>09:10</c:v>
                  </c:pt>
                  <c:pt idx="32">
                    <c:v>09:20</c:v>
                  </c:pt>
                  <c:pt idx="33">
                    <c:v>09:30</c:v>
                  </c:pt>
                  <c:pt idx="34">
                    <c:v>09:40</c:v>
                  </c:pt>
                  <c:pt idx="35">
                    <c:v>09:50</c:v>
                  </c:pt>
                  <c:pt idx="36">
                    <c:v>10h</c:v>
                  </c:pt>
                  <c:pt idx="37">
                    <c:v>10:10</c:v>
                  </c:pt>
                  <c:pt idx="38">
                    <c:v>10:20</c:v>
                  </c:pt>
                  <c:pt idx="39">
                    <c:v>10:30</c:v>
                  </c:pt>
                  <c:pt idx="40">
                    <c:v>10:40</c:v>
                  </c:pt>
                  <c:pt idx="41">
                    <c:v>10:50</c:v>
                  </c:pt>
                  <c:pt idx="42">
                    <c:v>11h</c:v>
                  </c:pt>
                  <c:pt idx="43">
                    <c:v>11:10</c:v>
                  </c:pt>
                  <c:pt idx="44">
                    <c:v>11:20</c:v>
                  </c:pt>
                  <c:pt idx="45">
                    <c:v>11:30</c:v>
                  </c:pt>
                  <c:pt idx="46">
                    <c:v>11:40</c:v>
                  </c:pt>
                  <c:pt idx="47">
                    <c:v>11:50</c:v>
                  </c:pt>
                  <c:pt idx="48">
                    <c:v>12h</c:v>
                  </c:pt>
                  <c:pt idx="49">
                    <c:v>12:10</c:v>
                  </c:pt>
                  <c:pt idx="50">
                    <c:v>12:20</c:v>
                  </c:pt>
                  <c:pt idx="51">
                    <c:v>12:30</c:v>
                  </c:pt>
                  <c:pt idx="52">
                    <c:v>12:40</c:v>
                  </c:pt>
                  <c:pt idx="53">
                    <c:v>12:50</c:v>
                  </c:pt>
                  <c:pt idx="54">
                    <c:v>13h</c:v>
                  </c:pt>
                  <c:pt idx="55">
                    <c:v>13:10</c:v>
                  </c:pt>
                  <c:pt idx="56">
                    <c:v>13:20</c:v>
                  </c:pt>
                  <c:pt idx="57">
                    <c:v>13:30</c:v>
                  </c:pt>
                  <c:pt idx="58">
                    <c:v>13:40</c:v>
                  </c:pt>
                  <c:pt idx="59">
                    <c:v>13:50</c:v>
                  </c:pt>
                  <c:pt idx="60">
                    <c:v>14h</c:v>
                  </c:pt>
                  <c:pt idx="61">
                    <c:v>14:10</c:v>
                  </c:pt>
                  <c:pt idx="62">
                    <c:v>14:20</c:v>
                  </c:pt>
                  <c:pt idx="63">
                    <c:v>14:30</c:v>
                  </c:pt>
                  <c:pt idx="64">
                    <c:v>14:40</c:v>
                  </c:pt>
                  <c:pt idx="65">
                    <c:v>14:50</c:v>
                  </c:pt>
                  <c:pt idx="66">
                    <c:v>15h</c:v>
                  </c:pt>
                  <c:pt idx="67">
                    <c:v>15:10</c:v>
                  </c:pt>
                  <c:pt idx="68">
                    <c:v>15:20</c:v>
                  </c:pt>
                  <c:pt idx="69">
                    <c:v>15:30</c:v>
                  </c:pt>
                  <c:pt idx="70">
                    <c:v>15:40</c:v>
                  </c:pt>
                  <c:pt idx="71">
                    <c:v>15:50</c:v>
                  </c:pt>
                  <c:pt idx="72">
                    <c:v>16h</c:v>
                  </c:pt>
                  <c:pt idx="73">
                    <c:v>16:10</c:v>
                  </c:pt>
                  <c:pt idx="74">
                    <c:v>16:20</c:v>
                  </c:pt>
                  <c:pt idx="75">
                    <c:v>16:30</c:v>
                  </c:pt>
                  <c:pt idx="76">
                    <c:v>16:40</c:v>
                  </c:pt>
                  <c:pt idx="77">
                    <c:v>16:50</c:v>
                  </c:pt>
                  <c:pt idx="78">
                    <c:v>17h</c:v>
                  </c:pt>
                  <c:pt idx="79">
                    <c:v>17:10</c:v>
                  </c:pt>
                  <c:pt idx="80">
                    <c:v>17:20</c:v>
                  </c:pt>
                  <c:pt idx="81">
                    <c:v>17:30</c:v>
                  </c:pt>
                  <c:pt idx="82">
                    <c:v>17:40</c:v>
                  </c:pt>
                  <c:pt idx="83">
                    <c:v>17:50</c:v>
                  </c:pt>
                  <c:pt idx="84">
                    <c:v>18h</c:v>
                  </c:pt>
                  <c:pt idx="85">
                    <c:v>18:10</c:v>
                  </c:pt>
                  <c:pt idx="86">
                    <c:v>18:20</c:v>
                  </c:pt>
                  <c:pt idx="87">
                    <c:v>18:30</c:v>
                  </c:pt>
                  <c:pt idx="88">
                    <c:v>18:40</c:v>
                  </c:pt>
                  <c:pt idx="89">
                    <c:v>18:50</c:v>
                  </c:pt>
                  <c:pt idx="90">
                    <c:v>19h</c:v>
                  </c:pt>
                  <c:pt idx="91">
                    <c:v>19:10</c:v>
                  </c:pt>
                  <c:pt idx="92">
                    <c:v>19:20</c:v>
                  </c:pt>
                  <c:pt idx="93">
                    <c:v>19:30</c:v>
                  </c:pt>
                  <c:pt idx="94">
                    <c:v>19:40</c:v>
                  </c:pt>
                  <c:pt idx="95">
                    <c:v>19:50</c:v>
                  </c:pt>
                  <c:pt idx="96">
                    <c:v>20h</c:v>
                  </c:pt>
                  <c:pt idx="97">
                    <c:v>20:10</c:v>
                  </c:pt>
                  <c:pt idx="98">
                    <c:v>20:20</c:v>
                  </c:pt>
                  <c:pt idx="99">
                    <c:v>20:30</c:v>
                  </c:pt>
                  <c:pt idx="100">
                    <c:v>20:40</c:v>
                  </c:pt>
                  <c:pt idx="101">
                    <c:v>20:50</c:v>
                  </c:pt>
                  <c:pt idx="102">
                    <c:v>21h</c:v>
                  </c:pt>
                  <c:pt idx="103">
                    <c:v>21:10</c:v>
                  </c:pt>
                  <c:pt idx="104">
                    <c:v>21:20</c:v>
                  </c:pt>
                  <c:pt idx="105">
                    <c:v>21:30</c:v>
                  </c:pt>
                  <c:pt idx="106">
                    <c:v>21:40</c:v>
                  </c:pt>
                  <c:pt idx="107">
                    <c:v>21:50</c:v>
                  </c:pt>
                  <c:pt idx="108">
                    <c:v>22h</c:v>
                  </c:pt>
                  <c:pt idx="109">
                    <c:v>22:10</c:v>
                  </c:pt>
                  <c:pt idx="110">
                    <c:v>22:20</c:v>
                  </c:pt>
                  <c:pt idx="111">
                    <c:v>22:30</c:v>
                  </c:pt>
                  <c:pt idx="112">
                    <c:v>22:40</c:v>
                  </c:pt>
                  <c:pt idx="113">
                    <c:v>22:50</c:v>
                  </c:pt>
                  <c:pt idx="114">
                    <c:v>23h</c:v>
                  </c:pt>
                  <c:pt idx="115">
                    <c:v>23:10</c:v>
                  </c:pt>
                  <c:pt idx="116">
                    <c:v>23:20</c:v>
                  </c:pt>
                  <c:pt idx="117">
                    <c:v>23:30</c:v>
                  </c:pt>
                  <c:pt idx="118">
                    <c:v>23:40</c:v>
                  </c:pt>
                  <c:pt idx="119">
                    <c:v>23:50</c:v>
                  </c:pt>
                  <c:pt idx="120">
                    <c:v>24h</c:v>
                  </c:pt>
                </c:lvl>
              </c:multiLvlStrCache>
            </c:multiLvlStrRef>
          </c:cat>
          <c:val>
            <c:numRef>
              <c:f>Sheet1!$B$2:$B$122</c:f>
              <c:numCache>
                <c:formatCode>General</c:formatCode>
                <c:ptCount val="121"/>
                <c:pt idx="0">
                  <c:v>17</c:v>
                </c:pt>
                <c:pt idx="1">
                  <c:v>20</c:v>
                </c:pt>
                <c:pt idx="2">
                  <c:v>31</c:v>
                </c:pt>
                <c:pt idx="3">
                  <c:v>64</c:v>
                </c:pt>
                <c:pt idx="4">
                  <c:v>102</c:v>
                </c:pt>
                <c:pt idx="5">
                  <c:v>164</c:v>
                </c:pt>
                <c:pt idx="6">
                  <c:v>254</c:v>
                </c:pt>
                <c:pt idx="7">
                  <c:v>318</c:v>
                </c:pt>
                <c:pt idx="8">
                  <c:v>406</c:v>
                </c:pt>
                <c:pt idx="9">
                  <c:v>490</c:v>
                </c:pt>
                <c:pt idx="10">
                  <c:v>556</c:v>
                </c:pt>
                <c:pt idx="11">
                  <c:v>621</c:v>
                </c:pt>
                <c:pt idx="12">
                  <c:v>701</c:v>
                </c:pt>
                <c:pt idx="13">
                  <c:v>758</c:v>
                </c:pt>
                <c:pt idx="14">
                  <c:v>802</c:v>
                </c:pt>
                <c:pt idx="15">
                  <c:v>848</c:v>
                </c:pt>
                <c:pt idx="16">
                  <c:v>878</c:v>
                </c:pt>
                <c:pt idx="17">
                  <c:v>904</c:v>
                </c:pt>
                <c:pt idx="18">
                  <c:v>924</c:v>
                </c:pt>
                <c:pt idx="19">
                  <c:v>929</c:v>
                </c:pt>
                <c:pt idx="20">
                  <c:v>942</c:v>
                </c:pt>
                <c:pt idx="21">
                  <c:v>947</c:v>
                </c:pt>
                <c:pt idx="22">
                  <c:v>948</c:v>
                </c:pt>
                <c:pt idx="23">
                  <c:v>931</c:v>
                </c:pt>
                <c:pt idx="24">
                  <c:v>912</c:v>
                </c:pt>
                <c:pt idx="25">
                  <c:v>898</c:v>
                </c:pt>
                <c:pt idx="26">
                  <c:v>855</c:v>
                </c:pt>
                <c:pt idx="27">
                  <c:v>817</c:v>
                </c:pt>
                <c:pt idx="28">
                  <c:v>782</c:v>
                </c:pt>
                <c:pt idx="29">
                  <c:v>754</c:v>
                </c:pt>
                <c:pt idx="30">
                  <c:v>735</c:v>
                </c:pt>
                <c:pt idx="31">
                  <c:v>713</c:v>
                </c:pt>
                <c:pt idx="32">
                  <c:v>698</c:v>
                </c:pt>
                <c:pt idx="33">
                  <c:v>680</c:v>
                </c:pt>
                <c:pt idx="34">
                  <c:v>688</c:v>
                </c:pt>
                <c:pt idx="35">
                  <c:v>680</c:v>
                </c:pt>
                <c:pt idx="36">
                  <c:v>697</c:v>
                </c:pt>
                <c:pt idx="37">
                  <c:v>705</c:v>
                </c:pt>
                <c:pt idx="38">
                  <c:v>711</c:v>
                </c:pt>
                <c:pt idx="39">
                  <c:v>731</c:v>
                </c:pt>
                <c:pt idx="40">
                  <c:v>744</c:v>
                </c:pt>
                <c:pt idx="41">
                  <c:v>752</c:v>
                </c:pt>
                <c:pt idx="42">
                  <c:v>759</c:v>
                </c:pt>
                <c:pt idx="43">
                  <c:v>776</c:v>
                </c:pt>
                <c:pt idx="44">
                  <c:v>790</c:v>
                </c:pt>
                <c:pt idx="45">
                  <c:v>795</c:v>
                </c:pt>
                <c:pt idx="46">
                  <c:v>819</c:v>
                </c:pt>
                <c:pt idx="47">
                  <c:v>825</c:v>
                </c:pt>
                <c:pt idx="48">
                  <c:v>835</c:v>
                </c:pt>
                <c:pt idx="49">
                  <c:v>845</c:v>
                </c:pt>
                <c:pt idx="50">
                  <c:v>852</c:v>
                </c:pt>
                <c:pt idx="51">
                  <c:v>856</c:v>
                </c:pt>
                <c:pt idx="52">
                  <c:v>867</c:v>
                </c:pt>
                <c:pt idx="53">
                  <c:v>870</c:v>
                </c:pt>
                <c:pt idx="54">
                  <c:v>863</c:v>
                </c:pt>
                <c:pt idx="55">
                  <c:v>867</c:v>
                </c:pt>
                <c:pt idx="56">
                  <c:v>858</c:v>
                </c:pt>
                <c:pt idx="57">
                  <c:v>857</c:v>
                </c:pt>
                <c:pt idx="58">
                  <c:v>858</c:v>
                </c:pt>
                <c:pt idx="59">
                  <c:v>854</c:v>
                </c:pt>
                <c:pt idx="60">
                  <c:v>845</c:v>
                </c:pt>
                <c:pt idx="61">
                  <c:v>839</c:v>
                </c:pt>
                <c:pt idx="62">
                  <c:v>832</c:v>
                </c:pt>
                <c:pt idx="63">
                  <c:v>817</c:v>
                </c:pt>
                <c:pt idx="64">
                  <c:v>809</c:v>
                </c:pt>
                <c:pt idx="65">
                  <c:v>806</c:v>
                </c:pt>
                <c:pt idx="66">
                  <c:v>787</c:v>
                </c:pt>
                <c:pt idx="67">
                  <c:v>782</c:v>
                </c:pt>
                <c:pt idx="68">
                  <c:v>753</c:v>
                </c:pt>
                <c:pt idx="69">
                  <c:v>746</c:v>
                </c:pt>
                <c:pt idx="70">
                  <c:v>728</c:v>
                </c:pt>
                <c:pt idx="71">
                  <c:v>725</c:v>
                </c:pt>
                <c:pt idx="72">
                  <c:v>714</c:v>
                </c:pt>
                <c:pt idx="73">
                  <c:v>713</c:v>
                </c:pt>
                <c:pt idx="74">
                  <c:v>719</c:v>
                </c:pt>
                <c:pt idx="75">
                  <c:v>718</c:v>
                </c:pt>
                <c:pt idx="76">
                  <c:v>728</c:v>
                </c:pt>
                <c:pt idx="77">
                  <c:v>736</c:v>
                </c:pt>
                <c:pt idx="78">
                  <c:v>740</c:v>
                </c:pt>
                <c:pt idx="79">
                  <c:v>741</c:v>
                </c:pt>
                <c:pt idx="80">
                  <c:v>749</c:v>
                </c:pt>
                <c:pt idx="81">
                  <c:v>755</c:v>
                </c:pt>
                <c:pt idx="82">
                  <c:v>758</c:v>
                </c:pt>
                <c:pt idx="83">
                  <c:v>763</c:v>
                </c:pt>
                <c:pt idx="84">
                  <c:v>764</c:v>
                </c:pt>
                <c:pt idx="85">
                  <c:v>757</c:v>
                </c:pt>
                <c:pt idx="86">
                  <c:v>752</c:v>
                </c:pt>
                <c:pt idx="87">
                  <c:v>745</c:v>
                </c:pt>
                <c:pt idx="88">
                  <c:v>740</c:v>
                </c:pt>
                <c:pt idx="89">
                  <c:v>727</c:v>
                </c:pt>
                <c:pt idx="90">
                  <c:v>721</c:v>
                </c:pt>
                <c:pt idx="91">
                  <c:v>686</c:v>
                </c:pt>
                <c:pt idx="92">
                  <c:v>661</c:v>
                </c:pt>
                <c:pt idx="93">
                  <c:v>637</c:v>
                </c:pt>
                <c:pt idx="94">
                  <c:v>620</c:v>
                </c:pt>
                <c:pt idx="95">
                  <c:v>603</c:v>
                </c:pt>
                <c:pt idx="96">
                  <c:v>574</c:v>
                </c:pt>
                <c:pt idx="97">
                  <c:v>561</c:v>
                </c:pt>
                <c:pt idx="98">
                  <c:v>536</c:v>
                </c:pt>
                <c:pt idx="99">
                  <c:v>515</c:v>
                </c:pt>
                <c:pt idx="100">
                  <c:v>489</c:v>
                </c:pt>
                <c:pt idx="101">
                  <c:v>477</c:v>
                </c:pt>
                <c:pt idx="102">
                  <c:v>467</c:v>
                </c:pt>
                <c:pt idx="103">
                  <c:v>464</c:v>
                </c:pt>
                <c:pt idx="104">
                  <c:v>467</c:v>
                </c:pt>
                <c:pt idx="105">
                  <c:v>452</c:v>
                </c:pt>
                <c:pt idx="106">
                  <c:v>440</c:v>
                </c:pt>
                <c:pt idx="107">
                  <c:v>428</c:v>
                </c:pt>
                <c:pt idx="108">
                  <c:v>413</c:v>
                </c:pt>
                <c:pt idx="109">
                  <c:v>401</c:v>
                </c:pt>
                <c:pt idx="110">
                  <c:v>382</c:v>
                </c:pt>
                <c:pt idx="111">
                  <c:v>367</c:v>
                </c:pt>
                <c:pt idx="112">
                  <c:v>349</c:v>
                </c:pt>
                <c:pt idx="113">
                  <c:v>329</c:v>
                </c:pt>
                <c:pt idx="114">
                  <c:v>305</c:v>
                </c:pt>
                <c:pt idx="115">
                  <c:v>291</c:v>
                </c:pt>
                <c:pt idx="116">
                  <c:v>272</c:v>
                </c:pt>
                <c:pt idx="117">
                  <c:v>233</c:v>
                </c:pt>
                <c:pt idx="118">
                  <c:v>210</c:v>
                </c:pt>
                <c:pt idx="119">
                  <c:v>181</c:v>
                </c:pt>
                <c:pt idx="120">
                  <c:v>147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Domingo</c:v>
                </c:pt>
              </c:strCache>
            </c:strRef>
          </c:tx>
          <c:spPr>
            <a:solidFill>
              <a:srgbClr val="E8871E"/>
            </a:solidFill>
            <a:ln w="31750" cap="flat">
              <a:solidFill>
                <a:srgbClr val="E8871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8871E"/>
              </a:solidFill>
              <a:ln w="9525" cap="flat">
                <a:solidFill>
                  <a:srgbClr val="E8871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Sheet1!$A$2:$A$122</c:f>
              <c:multiLvlStrCache>
                <c:ptCount val="121"/>
                <c:lvl>
                  <c:pt idx="0">
                    <c:v>04h</c:v>
                  </c:pt>
                  <c:pt idx="1">
                    <c:v>04:10</c:v>
                  </c:pt>
                  <c:pt idx="2">
                    <c:v>04:20</c:v>
                  </c:pt>
                  <c:pt idx="3">
                    <c:v>04:30</c:v>
                  </c:pt>
                  <c:pt idx="4">
                    <c:v>04:40</c:v>
                  </c:pt>
                  <c:pt idx="5">
                    <c:v>04:50</c:v>
                  </c:pt>
                  <c:pt idx="6">
                    <c:v>05h</c:v>
                  </c:pt>
                  <c:pt idx="7">
                    <c:v>05:10</c:v>
                  </c:pt>
                  <c:pt idx="8">
                    <c:v>05:20</c:v>
                  </c:pt>
                  <c:pt idx="9">
                    <c:v>05:30</c:v>
                  </c:pt>
                  <c:pt idx="10">
                    <c:v>05:40</c:v>
                  </c:pt>
                  <c:pt idx="11">
                    <c:v>05:50</c:v>
                  </c:pt>
                  <c:pt idx="12">
                    <c:v>06h</c:v>
                  </c:pt>
                  <c:pt idx="13">
                    <c:v>06:10</c:v>
                  </c:pt>
                  <c:pt idx="14">
                    <c:v>06:20</c:v>
                  </c:pt>
                  <c:pt idx="15">
                    <c:v>06:30</c:v>
                  </c:pt>
                  <c:pt idx="16">
                    <c:v>06:40</c:v>
                  </c:pt>
                  <c:pt idx="17">
                    <c:v>06:50</c:v>
                  </c:pt>
                  <c:pt idx="18">
                    <c:v>07h</c:v>
                  </c:pt>
                  <c:pt idx="19">
                    <c:v>07:10</c:v>
                  </c:pt>
                  <c:pt idx="20">
                    <c:v>07:20</c:v>
                  </c:pt>
                  <c:pt idx="21">
                    <c:v>07:30</c:v>
                  </c:pt>
                  <c:pt idx="22">
                    <c:v>07:40</c:v>
                  </c:pt>
                  <c:pt idx="23">
                    <c:v>07:50</c:v>
                  </c:pt>
                  <c:pt idx="24">
                    <c:v>08h</c:v>
                  </c:pt>
                  <c:pt idx="25">
                    <c:v>08:10</c:v>
                  </c:pt>
                  <c:pt idx="26">
                    <c:v>08:20</c:v>
                  </c:pt>
                  <c:pt idx="27">
                    <c:v>08:30</c:v>
                  </c:pt>
                  <c:pt idx="28">
                    <c:v>08:40</c:v>
                  </c:pt>
                  <c:pt idx="29">
                    <c:v>08:50</c:v>
                  </c:pt>
                  <c:pt idx="30">
                    <c:v>09h</c:v>
                  </c:pt>
                  <c:pt idx="31">
                    <c:v>09:10</c:v>
                  </c:pt>
                  <c:pt idx="32">
                    <c:v>09:20</c:v>
                  </c:pt>
                  <c:pt idx="33">
                    <c:v>09:30</c:v>
                  </c:pt>
                  <c:pt idx="34">
                    <c:v>09:40</c:v>
                  </c:pt>
                  <c:pt idx="35">
                    <c:v>09:50</c:v>
                  </c:pt>
                  <c:pt idx="36">
                    <c:v>10h</c:v>
                  </c:pt>
                  <c:pt idx="37">
                    <c:v>10:10</c:v>
                  </c:pt>
                  <c:pt idx="38">
                    <c:v>10:20</c:v>
                  </c:pt>
                  <c:pt idx="39">
                    <c:v>10:30</c:v>
                  </c:pt>
                  <c:pt idx="40">
                    <c:v>10:40</c:v>
                  </c:pt>
                  <c:pt idx="41">
                    <c:v>10:50</c:v>
                  </c:pt>
                  <c:pt idx="42">
                    <c:v>11h</c:v>
                  </c:pt>
                  <c:pt idx="43">
                    <c:v>11:10</c:v>
                  </c:pt>
                  <c:pt idx="44">
                    <c:v>11:20</c:v>
                  </c:pt>
                  <c:pt idx="45">
                    <c:v>11:30</c:v>
                  </c:pt>
                  <c:pt idx="46">
                    <c:v>11:40</c:v>
                  </c:pt>
                  <c:pt idx="47">
                    <c:v>11:50</c:v>
                  </c:pt>
                  <c:pt idx="48">
                    <c:v>12h</c:v>
                  </c:pt>
                  <c:pt idx="49">
                    <c:v>12:10</c:v>
                  </c:pt>
                  <c:pt idx="50">
                    <c:v>12:20</c:v>
                  </c:pt>
                  <c:pt idx="51">
                    <c:v>12:30</c:v>
                  </c:pt>
                  <c:pt idx="52">
                    <c:v>12:40</c:v>
                  </c:pt>
                  <c:pt idx="53">
                    <c:v>12:50</c:v>
                  </c:pt>
                  <c:pt idx="54">
                    <c:v>13h</c:v>
                  </c:pt>
                  <c:pt idx="55">
                    <c:v>13:10</c:v>
                  </c:pt>
                  <c:pt idx="56">
                    <c:v>13:20</c:v>
                  </c:pt>
                  <c:pt idx="57">
                    <c:v>13:30</c:v>
                  </c:pt>
                  <c:pt idx="58">
                    <c:v>13:40</c:v>
                  </c:pt>
                  <c:pt idx="59">
                    <c:v>13:50</c:v>
                  </c:pt>
                  <c:pt idx="60">
                    <c:v>14h</c:v>
                  </c:pt>
                  <c:pt idx="61">
                    <c:v>14:10</c:v>
                  </c:pt>
                  <c:pt idx="62">
                    <c:v>14:20</c:v>
                  </c:pt>
                  <c:pt idx="63">
                    <c:v>14:30</c:v>
                  </c:pt>
                  <c:pt idx="64">
                    <c:v>14:40</c:v>
                  </c:pt>
                  <c:pt idx="65">
                    <c:v>14:50</c:v>
                  </c:pt>
                  <c:pt idx="66">
                    <c:v>15h</c:v>
                  </c:pt>
                  <c:pt idx="67">
                    <c:v>15:10</c:v>
                  </c:pt>
                  <c:pt idx="68">
                    <c:v>15:20</c:v>
                  </c:pt>
                  <c:pt idx="69">
                    <c:v>15:30</c:v>
                  </c:pt>
                  <c:pt idx="70">
                    <c:v>15:40</c:v>
                  </c:pt>
                  <c:pt idx="71">
                    <c:v>15:50</c:v>
                  </c:pt>
                  <c:pt idx="72">
                    <c:v>16h</c:v>
                  </c:pt>
                  <c:pt idx="73">
                    <c:v>16:10</c:v>
                  </c:pt>
                  <c:pt idx="74">
                    <c:v>16:20</c:v>
                  </c:pt>
                  <c:pt idx="75">
                    <c:v>16:30</c:v>
                  </c:pt>
                  <c:pt idx="76">
                    <c:v>16:40</c:v>
                  </c:pt>
                  <c:pt idx="77">
                    <c:v>16:50</c:v>
                  </c:pt>
                  <c:pt idx="78">
                    <c:v>17h</c:v>
                  </c:pt>
                  <c:pt idx="79">
                    <c:v>17:10</c:v>
                  </c:pt>
                  <c:pt idx="80">
                    <c:v>17:20</c:v>
                  </c:pt>
                  <c:pt idx="81">
                    <c:v>17:30</c:v>
                  </c:pt>
                  <c:pt idx="82">
                    <c:v>17:40</c:v>
                  </c:pt>
                  <c:pt idx="83">
                    <c:v>17:50</c:v>
                  </c:pt>
                  <c:pt idx="84">
                    <c:v>18h</c:v>
                  </c:pt>
                  <c:pt idx="85">
                    <c:v>18:10</c:v>
                  </c:pt>
                  <c:pt idx="86">
                    <c:v>18:20</c:v>
                  </c:pt>
                  <c:pt idx="87">
                    <c:v>18:30</c:v>
                  </c:pt>
                  <c:pt idx="88">
                    <c:v>18:40</c:v>
                  </c:pt>
                  <c:pt idx="89">
                    <c:v>18:50</c:v>
                  </c:pt>
                  <c:pt idx="90">
                    <c:v>19h</c:v>
                  </c:pt>
                  <c:pt idx="91">
                    <c:v>19:10</c:v>
                  </c:pt>
                  <c:pt idx="92">
                    <c:v>19:20</c:v>
                  </c:pt>
                  <c:pt idx="93">
                    <c:v>19:30</c:v>
                  </c:pt>
                  <c:pt idx="94">
                    <c:v>19:40</c:v>
                  </c:pt>
                  <c:pt idx="95">
                    <c:v>19:50</c:v>
                  </c:pt>
                  <c:pt idx="96">
                    <c:v>20h</c:v>
                  </c:pt>
                  <c:pt idx="97">
                    <c:v>20:10</c:v>
                  </c:pt>
                  <c:pt idx="98">
                    <c:v>20:20</c:v>
                  </c:pt>
                  <c:pt idx="99">
                    <c:v>20:30</c:v>
                  </c:pt>
                  <c:pt idx="100">
                    <c:v>20:40</c:v>
                  </c:pt>
                  <c:pt idx="101">
                    <c:v>20:50</c:v>
                  </c:pt>
                  <c:pt idx="102">
                    <c:v>21h</c:v>
                  </c:pt>
                  <c:pt idx="103">
                    <c:v>21:10</c:v>
                  </c:pt>
                  <c:pt idx="104">
                    <c:v>21:20</c:v>
                  </c:pt>
                  <c:pt idx="105">
                    <c:v>21:30</c:v>
                  </c:pt>
                  <c:pt idx="106">
                    <c:v>21:40</c:v>
                  </c:pt>
                  <c:pt idx="107">
                    <c:v>21:50</c:v>
                  </c:pt>
                  <c:pt idx="108">
                    <c:v>22h</c:v>
                  </c:pt>
                  <c:pt idx="109">
                    <c:v>22:10</c:v>
                  </c:pt>
                  <c:pt idx="110">
                    <c:v>22:20</c:v>
                  </c:pt>
                  <c:pt idx="111">
                    <c:v>22:30</c:v>
                  </c:pt>
                  <c:pt idx="112">
                    <c:v>22:40</c:v>
                  </c:pt>
                  <c:pt idx="113">
                    <c:v>22:50</c:v>
                  </c:pt>
                  <c:pt idx="114">
                    <c:v>23h</c:v>
                  </c:pt>
                  <c:pt idx="115">
                    <c:v>23:10</c:v>
                  </c:pt>
                  <c:pt idx="116">
                    <c:v>23:20</c:v>
                  </c:pt>
                  <c:pt idx="117">
                    <c:v>23:30</c:v>
                  </c:pt>
                  <c:pt idx="118">
                    <c:v>23:40</c:v>
                  </c:pt>
                  <c:pt idx="119">
                    <c:v>23:50</c:v>
                  </c:pt>
                  <c:pt idx="120">
                    <c:v>24h</c:v>
                  </c:pt>
                </c:lvl>
              </c:multiLvlStrCache>
            </c:multiLvlStrRef>
          </c:cat>
          <c:val>
            <c:numRef>
              <c:f>Sheet1!$C$2:$C$122</c:f>
              <c:numCache>
                <c:formatCode>General</c:formatCode>
                <c:ptCount val="121"/>
                <c:pt idx="0">
                  <c:v>18</c:v>
                </c:pt>
                <c:pt idx="1">
                  <c:v>20</c:v>
                </c:pt>
                <c:pt idx="2">
                  <c:v>30</c:v>
                </c:pt>
                <c:pt idx="3">
                  <c:v>50</c:v>
                </c:pt>
                <c:pt idx="4">
                  <c:v>76</c:v>
                </c:pt>
                <c:pt idx="5">
                  <c:v>112</c:v>
                </c:pt>
                <c:pt idx="6">
                  <c:v>177</c:v>
                </c:pt>
                <c:pt idx="7">
                  <c:v>202</c:v>
                </c:pt>
                <c:pt idx="8">
                  <c:v>238</c:v>
                </c:pt>
                <c:pt idx="9">
                  <c:v>278</c:v>
                </c:pt>
                <c:pt idx="10">
                  <c:v>306</c:v>
                </c:pt>
                <c:pt idx="11">
                  <c:v>331</c:v>
                </c:pt>
                <c:pt idx="12">
                  <c:v>367</c:v>
                </c:pt>
                <c:pt idx="13">
                  <c:v>388</c:v>
                </c:pt>
                <c:pt idx="14">
                  <c:v>399</c:v>
                </c:pt>
                <c:pt idx="15">
                  <c:v>410</c:v>
                </c:pt>
                <c:pt idx="16">
                  <c:v>417</c:v>
                </c:pt>
                <c:pt idx="17">
                  <c:v>424</c:v>
                </c:pt>
                <c:pt idx="18">
                  <c:v>431</c:v>
                </c:pt>
                <c:pt idx="19">
                  <c:v>434</c:v>
                </c:pt>
                <c:pt idx="20">
                  <c:v>436</c:v>
                </c:pt>
                <c:pt idx="21">
                  <c:v>436</c:v>
                </c:pt>
                <c:pt idx="22">
                  <c:v>441</c:v>
                </c:pt>
                <c:pt idx="23">
                  <c:v>438</c:v>
                </c:pt>
                <c:pt idx="24">
                  <c:v>431</c:v>
                </c:pt>
                <c:pt idx="25">
                  <c:v>420</c:v>
                </c:pt>
                <c:pt idx="26">
                  <c:v>409</c:v>
                </c:pt>
                <c:pt idx="27">
                  <c:v>389</c:v>
                </c:pt>
                <c:pt idx="28">
                  <c:v>377</c:v>
                </c:pt>
                <c:pt idx="29">
                  <c:v>354</c:v>
                </c:pt>
                <c:pt idx="30">
                  <c:v>347</c:v>
                </c:pt>
                <c:pt idx="31">
                  <c:v>331</c:v>
                </c:pt>
                <c:pt idx="32">
                  <c:v>327</c:v>
                </c:pt>
                <c:pt idx="33">
                  <c:v>326</c:v>
                </c:pt>
                <c:pt idx="34">
                  <c:v>327</c:v>
                </c:pt>
                <c:pt idx="35">
                  <c:v>342</c:v>
                </c:pt>
                <c:pt idx="36">
                  <c:v>347</c:v>
                </c:pt>
                <c:pt idx="37">
                  <c:v>367</c:v>
                </c:pt>
                <c:pt idx="38">
                  <c:v>382</c:v>
                </c:pt>
                <c:pt idx="39">
                  <c:v>385</c:v>
                </c:pt>
                <c:pt idx="40">
                  <c:v>387</c:v>
                </c:pt>
                <c:pt idx="41">
                  <c:v>390</c:v>
                </c:pt>
                <c:pt idx="42">
                  <c:v>399</c:v>
                </c:pt>
                <c:pt idx="43">
                  <c:v>412</c:v>
                </c:pt>
                <c:pt idx="44">
                  <c:v>411</c:v>
                </c:pt>
                <c:pt idx="45">
                  <c:v>409</c:v>
                </c:pt>
                <c:pt idx="46">
                  <c:v>418</c:v>
                </c:pt>
                <c:pt idx="47">
                  <c:v>413</c:v>
                </c:pt>
                <c:pt idx="48">
                  <c:v>417</c:v>
                </c:pt>
                <c:pt idx="49">
                  <c:v>417</c:v>
                </c:pt>
                <c:pt idx="50">
                  <c:v>418</c:v>
                </c:pt>
                <c:pt idx="51">
                  <c:v>429</c:v>
                </c:pt>
                <c:pt idx="52">
                  <c:v>430</c:v>
                </c:pt>
                <c:pt idx="53">
                  <c:v>432</c:v>
                </c:pt>
                <c:pt idx="54">
                  <c:v>443</c:v>
                </c:pt>
                <c:pt idx="55">
                  <c:v>439</c:v>
                </c:pt>
                <c:pt idx="56">
                  <c:v>442</c:v>
                </c:pt>
                <c:pt idx="57">
                  <c:v>445</c:v>
                </c:pt>
                <c:pt idx="58">
                  <c:v>447</c:v>
                </c:pt>
                <c:pt idx="59">
                  <c:v>453</c:v>
                </c:pt>
                <c:pt idx="60">
                  <c:v>449</c:v>
                </c:pt>
                <c:pt idx="61">
                  <c:v>453</c:v>
                </c:pt>
                <c:pt idx="62">
                  <c:v>450</c:v>
                </c:pt>
                <c:pt idx="63">
                  <c:v>453</c:v>
                </c:pt>
                <c:pt idx="64">
                  <c:v>448</c:v>
                </c:pt>
                <c:pt idx="65">
                  <c:v>445</c:v>
                </c:pt>
                <c:pt idx="66">
                  <c:v>437</c:v>
                </c:pt>
                <c:pt idx="67">
                  <c:v>421</c:v>
                </c:pt>
                <c:pt idx="68">
                  <c:v>416</c:v>
                </c:pt>
                <c:pt idx="69">
                  <c:v>400</c:v>
                </c:pt>
                <c:pt idx="70">
                  <c:v>393</c:v>
                </c:pt>
                <c:pt idx="71">
                  <c:v>397</c:v>
                </c:pt>
                <c:pt idx="72">
                  <c:v>374</c:v>
                </c:pt>
                <c:pt idx="73">
                  <c:v>367</c:v>
                </c:pt>
                <c:pt idx="74">
                  <c:v>368</c:v>
                </c:pt>
                <c:pt idx="75">
                  <c:v>376</c:v>
                </c:pt>
                <c:pt idx="76">
                  <c:v>374</c:v>
                </c:pt>
                <c:pt idx="77">
                  <c:v>373</c:v>
                </c:pt>
                <c:pt idx="78">
                  <c:v>380</c:v>
                </c:pt>
                <c:pt idx="79">
                  <c:v>379</c:v>
                </c:pt>
                <c:pt idx="80">
                  <c:v>387</c:v>
                </c:pt>
                <c:pt idx="81">
                  <c:v>400</c:v>
                </c:pt>
                <c:pt idx="82">
                  <c:v>403</c:v>
                </c:pt>
                <c:pt idx="83">
                  <c:v>411</c:v>
                </c:pt>
                <c:pt idx="84">
                  <c:v>410</c:v>
                </c:pt>
                <c:pt idx="85">
                  <c:v>412</c:v>
                </c:pt>
                <c:pt idx="86">
                  <c:v>408</c:v>
                </c:pt>
                <c:pt idx="87">
                  <c:v>411</c:v>
                </c:pt>
                <c:pt idx="88">
                  <c:v>413</c:v>
                </c:pt>
                <c:pt idx="89">
                  <c:v>413</c:v>
                </c:pt>
                <c:pt idx="90">
                  <c:v>411</c:v>
                </c:pt>
                <c:pt idx="91">
                  <c:v>400</c:v>
                </c:pt>
                <c:pt idx="92">
                  <c:v>390</c:v>
                </c:pt>
                <c:pt idx="93">
                  <c:v>387</c:v>
                </c:pt>
                <c:pt idx="94">
                  <c:v>374</c:v>
                </c:pt>
                <c:pt idx="95">
                  <c:v>362</c:v>
                </c:pt>
                <c:pt idx="96">
                  <c:v>355</c:v>
                </c:pt>
                <c:pt idx="97">
                  <c:v>343</c:v>
                </c:pt>
                <c:pt idx="98">
                  <c:v>327</c:v>
                </c:pt>
                <c:pt idx="99">
                  <c:v>320</c:v>
                </c:pt>
                <c:pt idx="100">
                  <c:v>319</c:v>
                </c:pt>
                <c:pt idx="101">
                  <c:v>307</c:v>
                </c:pt>
                <c:pt idx="102">
                  <c:v>304</c:v>
                </c:pt>
                <c:pt idx="103">
                  <c:v>303</c:v>
                </c:pt>
                <c:pt idx="104">
                  <c:v>311</c:v>
                </c:pt>
                <c:pt idx="105">
                  <c:v>308</c:v>
                </c:pt>
                <c:pt idx="106">
                  <c:v>313</c:v>
                </c:pt>
                <c:pt idx="107">
                  <c:v>314</c:v>
                </c:pt>
                <c:pt idx="108">
                  <c:v>304</c:v>
                </c:pt>
                <c:pt idx="109">
                  <c:v>309</c:v>
                </c:pt>
                <c:pt idx="110">
                  <c:v>298</c:v>
                </c:pt>
                <c:pt idx="111">
                  <c:v>293</c:v>
                </c:pt>
                <c:pt idx="112">
                  <c:v>289</c:v>
                </c:pt>
                <c:pt idx="113">
                  <c:v>277</c:v>
                </c:pt>
                <c:pt idx="114">
                  <c:v>260</c:v>
                </c:pt>
                <c:pt idx="115">
                  <c:v>250</c:v>
                </c:pt>
                <c:pt idx="116">
                  <c:v>241</c:v>
                </c:pt>
                <c:pt idx="117">
                  <c:v>218</c:v>
                </c:pt>
                <c:pt idx="118">
                  <c:v>189</c:v>
                </c:pt>
                <c:pt idx="119">
                  <c:v>166</c:v>
                </c:pt>
                <c:pt idx="120">
                  <c:v>131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2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9525" cap="flat">
              <a:solidFill>
                <a:srgbClr val="E3E6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B2B3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34"/>
                </a:solidFill>
                <a:latin typeface="+mn-lt"/>
              </a:rPr>
              <a:t>Intervalo entre ônibus no pico (% das 535 linhas-sentido)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das linhas-sentido</c:v>
                </c:pt>
              </c:strCache>
            </c:strRef>
          </c:tx>
          <c:spPr>
            <a:solidFill>
              <a:srgbClr val="0E5E6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B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5E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5E6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7B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FB7B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B7B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DCD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Até 10 min</c:v>
                  </c:pt>
                  <c:pt idx="1">
                    <c:v>10 a 15 min</c:v>
                  </c:pt>
                  <c:pt idx="2">
                    <c:v>15 a 30 min</c:v>
                  </c:pt>
                  <c:pt idx="3">
                    <c:v>30 a 60 min</c:v>
                  </c:pt>
                  <c:pt idx="4">
                    <c:v>Mais de 60 min</c:v>
                  </c:pt>
                  <c:pt idx="5">
                    <c:v>Sem viagem no pico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6.7</c:v>
                </c:pt>
                <c:pt idx="1">
                  <c:v>15.5</c:v>
                </c:pt>
                <c:pt idx="2">
                  <c:v>43.6</c:v>
                </c:pt>
                <c:pt idx="3">
                  <c:v>24.7</c:v>
                </c:pt>
                <c:pt idx="4">
                  <c:v>2.2</c:v>
                </c:pt>
                <c:pt idx="5">
                  <c:v>7.3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B2B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B3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B34"/>
                </a:solidFill>
                <a:latin typeface="+mn-lt"/>
              </a:rPr>
              <a:t>Por quintil de renda per capita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Moradores com ônibus frequente a até 500 m</c:v>
                </c:pt>
              </c:strCache>
            </c:strRef>
          </c:tx>
          <c:spPr>
            <a:solidFill>
              <a:srgbClr val="0E5E6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(mais pobres)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 (mais ricos)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72.9</c:v>
                </c:pt>
                <c:pt idx="1">
                  <c:v>77.7</c:v>
                </c:pt>
                <c:pt idx="2">
                  <c:v>80.4</c:v>
                </c:pt>
                <c:pt idx="3">
                  <c:v>78.7</c:v>
                </c:pt>
                <c:pt idx="4">
                  <c:v>87.7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Empregos alcançáveis em até 60 min de ônibus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B3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Q1 (mais pobres)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 (mais ricos)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28.3</c:v>
                </c:pt>
                <c:pt idx="1">
                  <c:v>40</c:v>
                </c:pt>
                <c:pt idx="2">
                  <c:v>48.2</c:v>
                </c:pt>
                <c:pt idx="3">
                  <c:v>56.5</c:v>
                </c:pt>
                <c:pt idx="4">
                  <c:v>70.9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B3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B3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B3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[~20 s] Bom dia. Vou dividir os 10 minutos em duas partes: primeiro, usando o GTFS real de Fortaleza, mostro o que esses dados permitem enxergar e decidir; depois, apresento como eu conduziria, pela FNP, o apoio a um município que ainda não tem GTFS.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s] GTFS é um padrão aberto: um conjunto de arquivos de texto que descreve linhas, paradas, viagens, horários, trajetos e calendário, todos ligados por códigos. A grande vantagem é que o mesmo dado serve a vários usos. Serve para informar o passageiro no Google Maps e em apps. Serve para a prefeitura planejar, medindo oferta, frequência e cobertura. Serve de base para fiscalizar contratos, comparando o programado com o GPS. E alimenta transparência e bases nacionais, como o SIMU do Ministério das Cidades. A seguir mostro isso na prática com Fortaleza.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s] Usei o GTFS do case e cruzei com o projeto Acesso a Oportunidades do IPEA: população e renda por hexágono, empregos formais e o tempo de ônibus até eles. Tudo em R, com código aberto no GitHub. Algumas escolhas: como o arquivo recebido não tem viagens de dia útil, usei o sábado como referência; o pico é de 6h a 8h; cobertura é morar a até 500 metros de uma parada. As limitações principais estão à direita: população de 2010, distância em linha reta e o fato de o GTFS mostrar a oferta programada, não a realizada.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 s] Só com o GTFS já dá para dimensionar o sistema. Num sábado são 273 linhas, mais de 20 mil viagens e 212 mil quilômetros programados. O gráfico mostra quantos ônibus estão rodando a cada momento: o pico é às 7h40, com 948 veículos; no domingo, menos da metade. A velocidade mediana é de 15 km/h. Para a prefeitura, isso é base para dimensionar frota, custo por quilômetro e identificar trechos lentos que pedem faixa exclusiva.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s] Cruzando horários e linhas, calculei de quanto em quanto tempo passa o ônibus no pico. Só 22% das linhas, em cada sentido, passam a cada 15 minutos ou menos, que é o padrão usual para o passageiro não precisar consultar horário. A maioria espera entre 15 e 30 minutos. Esse tipo de indicador ajuda a decidir onde reforçar frota, reorganizar linhas sobrepostas e até fixar metas de frequência em contrato.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[~25 s] Levando a frequência para cada parada, o mapa mostra a estrutura da rede: em laranja, os corredores com mais de 30 ônibus por hora, que convergem para o Centro e ligam os terminais. É uma informação direta para priorizar faixas exclusivas, abrigos e fiscalização.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[~40 s] Aqui entra o cruzamento com a população. Quase 100% dos moradores têm uma parada a até 500 metros, então o problema não é falta de ponto. Mas, quando considero só ônibus frequente, a cobertura cai para 80%. Cerca de meio milhão de pessoas, em laranja no mapa, principalmente nas bordas sul e oeste, só contam com linhas de intervalo longo.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s] Este é o cruzamento que mais interessa à gestão. Separando a população em cinco faixas de renda: entre os 20% mais pobres, 73% têm ônibus frequente perto de casa, contra 88% entre os mais ricos. E, usando o indicador do IPEA, os mais pobres alcançam em uma hora de ônibus 28% dos empregos da cidade, contra 71% dos mais ricos, duas vezes e meia mais. O mapa mostra o porquê: os empregos e a oferta se concentram no centro-norte. Com GTFS, a prefeitura consegue medir e acompanhar esse tipo de desigualdade ao mudar a rede. Ressalva: o acesso a empregos foi calculado pelo IPEA com a rede de 2019.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[~45 s] Ao explorar o arquivo, encontrei problemas que valem como lição. Não há nenhuma viagem de dia útil: o serviço existe no calendário, mas nenhuma viagem o usa. O calendário venceu em 3 de julho, e um feed vencido some dos aplicativos. Campos como sentido e destino estão vazios, e as linhas circulares apontam para um trajeto de 60 km, o que distorce distâncias. Precisei contornar tudo isso na análise. A lição é que o GTFS só gera valor se for validado e atualizado com rotina, e isso nos leva ao segundo desafio.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[~80 s] Para o município sem GTFS, eu proporia um acompanhamento em cinco etapas, cada uma com uma entrega. Primeiro, mobilizar: reunião com o prefeito e a secretaria, definição de um ponto focal e uma oficina curta mostrando, com exemplos como o de Fortaleza, o que o GTFS entrega. Segundo, inventariar: levantar quem tem cada informação (ordens de serviço, itinerários, pontos), em que formato e quão atualizada, e escolher linhas-piloto. Terceiro, construir, com um editor GTFS sem código, como o disponibilizado à FNP, começando pelas linhas-piloto e capacitando a equipe na prática. Quarto, validar, com o validador da MobilityData, conferindo com operadoras e com o GPS dos ônibus. Por fim, publicar num link fixo, enviar ao Google Maps e, principalmente, criar a rotina de atualização. Os prazos são indicativos.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s] O ponto central é que a informação está espalhada. A prefeitura tem as ordens de serviço e o cadastro de pontos; as operadoras sabem o itinerário e o horário praticados; os fornecedores de GPS e bilhetagem têm trajetos e cadastro de linhas. A mobilização começa pela prefeitura, que é quem convoca operadoras e fornecedores e quem publica. Do lado da FNP, o apoio seria simples e contínuo: um ponto focal de cada lado com agenda quinzenal, capacitação curta em três módulos, um kit com modelos prontos, plantão para dúvidas e revisão dos arquivos, e uma rede de pares para o município aprender com quem já publica.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s] Algumas dificuldades são previsíveis. Equipe pequena: ferramentas sem código, poucas linhas no começo e a FNP fazendo junto. Dados com as operadoras: ofício do prefeito, acordo de cooperação e, no médio prazo, cláusula contratual de entrega no padrão. Dados divergentes: conferência em campo e com o GPS. O risco que Fortaleza ilustra, o feed publicado e esquecido: rotina de atualização ligada às ordens de serviço e validação automática. E a troca de gestão: responsável formal, processo documentado e um ato normativo para que a iniciativa sobreviva à equipe.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[~25 s] Para fechar: o GTFS transforma a rede em informação para decidir, e em Fortaleza mostrou que um em cada cinco moradores não tem ônibus frequente perto de casa e que os mais pobres alcançam bem menos empregos. Esse valor depende de qualidade e atualização. E a FNP pode encurtar o caminho dos municípios com etapas claras, ferramentas simples e rotina de manutenção. O código está aberto no GitHub, no link do slide. Obrigada, fico à disposição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77640"/>
            <a:ext cx="67665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Rayssa Lorrane  ·  Case FNP – Gerência de Mobilidade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PROCESSO SELETIVO · ANALISTA PLENO · MOBILIDADE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GTFS a serviço da gestão municipal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Desafio 1 – o que os dados de Fortaleza/CE revelam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Desafio 2 – como apoiar um município a construir o seu GTFS</a:t>
            </a:r>
            <a:endParaRPr lang="en-US" sz="1800" dirty="0"/>
          </a:p>
        </p:txBody>
      </p:sp>
      <p:sp>
        <p:nvSpPr>
          <p:cNvPr id="5" name="Autora"/>
          <p:cNvSpPr txBox="1"/>
          <p:nvPr/>
        </p:nvSpPr>
        <p:spPr>
          <a:xfrm>
            <a:off x="731520" y="5760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Rayssa Lorrane  ·  outubro de 2026</a:t>
            </a:r>
            <a:endParaRPr lang="en-US" sz="1400" dirty="0"/>
          </a:p>
        </p:txBody>
      </p:sp>
      <p:sp>
        <p:nvSpPr>
          <p:cNvPr id="6" name="Colmeia 0-0"/>
          <p:cNvSpPr/>
          <p:nvPr/>
        </p:nvSpPr>
        <p:spPr>
          <a:xfrm>
            <a:off x="7360920" y="914400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7" name="Colmeia 0-1"/>
          <p:cNvSpPr/>
          <p:nvPr/>
        </p:nvSpPr>
        <p:spPr>
          <a:xfrm>
            <a:off x="7360920" y="1858609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8" name="Colmeia 0-2"/>
          <p:cNvSpPr/>
          <p:nvPr/>
        </p:nvSpPr>
        <p:spPr>
          <a:xfrm>
            <a:off x="7360920" y="2802819"/>
            <a:ext cx="1005840" cy="871057"/>
          </a:xfrm>
          <a:prstGeom prst="hexagon">
            <a:avLst/>
          </a:prstGeom>
          <a:solidFill>
            <a:srgbClr val="7FB7BE"/>
          </a:solidFill>
          <a:ln w="12700">
            <a:solidFill>
              <a:srgbClr val="7FB7BE"/>
            </a:solidFill>
            <a:prstDash val="solid"/>
          </a:ln>
        </p:spPr>
      </p:sp>
      <p:sp>
        <p:nvSpPr>
          <p:cNvPr id="9" name="Colmeia 1-0"/>
          <p:cNvSpPr/>
          <p:nvPr/>
        </p:nvSpPr>
        <p:spPr>
          <a:xfrm>
            <a:off x="8213004" y="1386505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0" name="Colmeia 1-1"/>
          <p:cNvSpPr/>
          <p:nvPr/>
        </p:nvSpPr>
        <p:spPr>
          <a:xfrm>
            <a:off x="8213004" y="2330714"/>
            <a:ext cx="1005840" cy="871057"/>
          </a:xfrm>
          <a:prstGeom prst="hexagon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Colmeia 1-2"/>
          <p:cNvSpPr/>
          <p:nvPr/>
        </p:nvSpPr>
        <p:spPr>
          <a:xfrm>
            <a:off x="8213004" y="3274924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2" name="Colmeia 1-3"/>
          <p:cNvSpPr/>
          <p:nvPr/>
        </p:nvSpPr>
        <p:spPr>
          <a:xfrm>
            <a:off x="8213004" y="4219133"/>
            <a:ext cx="1005840" cy="871057"/>
          </a:xfrm>
          <a:prstGeom prst="hexagon">
            <a:avLst/>
          </a:prstGeom>
          <a:solidFill>
            <a:srgbClr val="7FB7BE"/>
          </a:solidFill>
          <a:ln w="12700">
            <a:solidFill>
              <a:srgbClr val="7FB7BE"/>
            </a:solidFill>
            <a:prstDash val="solid"/>
          </a:ln>
        </p:spPr>
      </p:sp>
      <p:sp>
        <p:nvSpPr>
          <p:cNvPr id="13" name="Colmeia 2-0"/>
          <p:cNvSpPr/>
          <p:nvPr/>
        </p:nvSpPr>
        <p:spPr>
          <a:xfrm>
            <a:off x="9065087" y="914400"/>
            <a:ext cx="1005840" cy="871057"/>
          </a:xfrm>
          <a:prstGeom prst="hexagon">
            <a:avLst/>
          </a:prstGeom>
          <a:solidFill>
            <a:srgbClr val="7FB7BE"/>
          </a:solidFill>
          <a:ln w="12700">
            <a:solidFill>
              <a:srgbClr val="7FB7BE"/>
            </a:solidFill>
            <a:prstDash val="solid"/>
          </a:ln>
        </p:spPr>
      </p:sp>
      <p:sp>
        <p:nvSpPr>
          <p:cNvPr id="14" name="Colmeia 2-1"/>
          <p:cNvSpPr/>
          <p:nvPr/>
        </p:nvSpPr>
        <p:spPr>
          <a:xfrm>
            <a:off x="9065087" y="1858609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5" name="Colmeia 2-2"/>
          <p:cNvSpPr/>
          <p:nvPr/>
        </p:nvSpPr>
        <p:spPr>
          <a:xfrm>
            <a:off x="9065087" y="2802819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6" name="Colmeia 2-3"/>
          <p:cNvSpPr/>
          <p:nvPr/>
        </p:nvSpPr>
        <p:spPr>
          <a:xfrm>
            <a:off x="9065087" y="3747028"/>
            <a:ext cx="1005840" cy="871057"/>
          </a:xfrm>
          <a:prstGeom prst="hexagon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7" name="Colmeia 3-1"/>
          <p:cNvSpPr/>
          <p:nvPr/>
        </p:nvSpPr>
        <p:spPr>
          <a:xfrm>
            <a:off x="9917171" y="2330714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8" name="Colmeia 3-2"/>
          <p:cNvSpPr/>
          <p:nvPr/>
        </p:nvSpPr>
        <p:spPr>
          <a:xfrm>
            <a:off x="9917171" y="3274924"/>
            <a:ext cx="1005840" cy="871057"/>
          </a:xfrm>
          <a:prstGeom prst="hexagon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19" name="Colmeia 3-3"/>
          <p:cNvSpPr/>
          <p:nvPr/>
        </p:nvSpPr>
        <p:spPr>
          <a:xfrm>
            <a:off x="9917171" y="4219133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0" name="Colmeia 4-1"/>
          <p:cNvSpPr/>
          <p:nvPr/>
        </p:nvSpPr>
        <p:spPr>
          <a:xfrm>
            <a:off x="10769255" y="1858609"/>
            <a:ext cx="1005840" cy="871057"/>
          </a:xfrm>
          <a:prstGeom prst="hexagon">
            <a:avLst/>
          </a:prstGeom>
          <a:solidFill>
            <a:srgbClr val="7FB7BE"/>
          </a:solidFill>
          <a:ln w="12700">
            <a:solidFill>
              <a:srgbClr val="7FB7BE"/>
            </a:solidFill>
            <a:prstDash val="solid"/>
          </a:ln>
        </p:spPr>
      </p:sp>
      <p:sp>
        <p:nvSpPr>
          <p:cNvPr id="21" name="Colmeia 4-2"/>
          <p:cNvSpPr/>
          <p:nvPr/>
        </p:nvSpPr>
        <p:spPr>
          <a:xfrm>
            <a:off x="10769255" y="2802819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1 · POR QUE GTFS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GTFS descreve a rede de ônibus em um formato aberto que qualquer sistema consegue ler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Um pacote de arquivos de texto</a:t>
            </a:r>
            <a:endParaRPr lang="en-US" sz="1800" dirty="0"/>
          </a:p>
        </p:txBody>
      </p:sp>
      <p:sp>
        <p:nvSpPr>
          <p:cNvPr id="5" name="Arquivo routes.txt"/>
          <p:cNvSpPr/>
          <p:nvPr/>
        </p:nvSpPr>
        <p:spPr>
          <a:xfrm>
            <a:off x="548640" y="233172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331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Linhas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routes.txt</a:t>
            </a:r>
            <a:endParaRPr lang="en-US" sz="1600" dirty="0"/>
          </a:p>
        </p:txBody>
      </p:sp>
      <p:sp>
        <p:nvSpPr>
          <p:cNvPr id="7" name="Arquivo stops.txt"/>
          <p:cNvSpPr/>
          <p:nvPr/>
        </p:nvSpPr>
        <p:spPr>
          <a:xfrm>
            <a:off x="3154680" y="233172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2331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Paradas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stops.txt</a:t>
            </a:r>
            <a:endParaRPr lang="en-US" sz="1600" dirty="0"/>
          </a:p>
        </p:txBody>
      </p:sp>
      <p:sp>
        <p:nvSpPr>
          <p:cNvPr id="9" name="Arquivo trips.txt"/>
          <p:cNvSpPr/>
          <p:nvPr/>
        </p:nvSpPr>
        <p:spPr>
          <a:xfrm>
            <a:off x="548640" y="347472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474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Viagens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trips.txt</a:t>
            </a:r>
            <a:endParaRPr lang="en-US" sz="1600" dirty="0"/>
          </a:p>
        </p:txBody>
      </p:sp>
      <p:sp>
        <p:nvSpPr>
          <p:cNvPr id="11" name="Arquivo stop_times.txt"/>
          <p:cNvSpPr/>
          <p:nvPr/>
        </p:nvSpPr>
        <p:spPr>
          <a:xfrm>
            <a:off x="3154680" y="347472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37560" y="3474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Horários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stop_times.txt</a:t>
            </a:r>
            <a:endParaRPr lang="en-US" sz="1600" dirty="0"/>
          </a:p>
        </p:txBody>
      </p:sp>
      <p:sp>
        <p:nvSpPr>
          <p:cNvPr id="13" name="Arquivo shapes.txt"/>
          <p:cNvSpPr/>
          <p:nvPr/>
        </p:nvSpPr>
        <p:spPr>
          <a:xfrm>
            <a:off x="548640" y="461772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617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Trajetos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shapes.txt</a:t>
            </a:r>
            <a:endParaRPr lang="en-US" sz="1600" dirty="0"/>
          </a:p>
        </p:txBody>
      </p:sp>
      <p:sp>
        <p:nvSpPr>
          <p:cNvPr id="15" name="Arquivo calendar.txt"/>
          <p:cNvSpPr/>
          <p:nvPr/>
        </p:nvSpPr>
        <p:spPr>
          <a:xfrm>
            <a:off x="3154680" y="4617720"/>
            <a:ext cx="24231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37560" y="46177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Dias de operação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calendar.txt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Os arquivos se ligam por códigos: a viagem pertence a uma linha, passa por paradas em certos horários e roda em certos dias.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 mesmo dado serve a quatro usos</a:t>
            </a:r>
            <a:endParaRPr lang="en-US" sz="1800" dirty="0"/>
          </a:p>
        </p:txBody>
      </p:sp>
      <p:sp>
        <p:nvSpPr>
          <p:cNvPr id="19" name="Hex uso 0"/>
          <p:cNvSpPr/>
          <p:nvPr/>
        </p:nvSpPr>
        <p:spPr>
          <a:xfrm>
            <a:off x="6400800" y="2377440"/>
            <a:ext cx="713232" cy="61765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20" name="Ícone uso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4" y="2496312"/>
            <a:ext cx="329184" cy="32918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315200" y="233172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Informação ao passageiro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Horários e rotas no Google Maps, Moovit e apps locais</a:t>
            </a:r>
            <a:endParaRPr lang="en-US" sz="1600" dirty="0"/>
          </a:p>
        </p:txBody>
      </p:sp>
      <p:sp>
        <p:nvSpPr>
          <p:cNvPr id="22" name="Hex uso 1"/>
          <p:cNvSpPr/>
          <p:nvPr/>
        </p:nvSpPr>
        <p:spPr>
          <a:xfrm>
            <a:off x="6400800" y="3273552"/>
            <a:ext cx="713232" cy="61765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23" name="Ícone uso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3392424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315200" y="322783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Planejamento da rede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Oferta, frequência, velocidade e cobertura medidas em minutos</a:t>
            </a:r>
            <a:endParaRPr lang="en-US" sz="1600" dirty="0"/>
          </a:p>
        </p:txBody>
      </p:sp>
      <p:sp>
        <p:nvSpPr>
          <p:cNvPr id="25" name="Hex uso 2"/>
          <p:cNvSpPr/>
          <p:nvPr/>
        </p:nvSpPr>
        <p:spPr>
          <a:xfrm>
            <a:off x="6400800" y="4169664"/>
            <a:ext cx="713232" cy="61765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26" name="Ícone uso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4" y="4288536"/>
            <a:ext cx="329184" cy="32918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315200" y="4123944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Gestão de contratos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Base para comparar o programado com o realizado pelo GPS</a:t>
            </a:r>
            <a:endParaRPr lang="en-US" sz="1600" dirty="0"/>
          </a:p>
        </p:txBody>
      </p:sp>
      <p:sp>
        <p:nvSpPr>
          <p:cNvPr id="28" name="Hex uso 3"/>
          <p:cNvSpPr/>
          <p:nvPr/>
        </p:nvSpPr>
        <p:spPr>
          <a:xfrm>
            <a:off x="6400800" y="5065776"/>
            <a:ext cx="713232" cy="61765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29" name="Ícone uso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5184648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315200" y="5020056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Transparência e políticas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Dados abertos e bases nacionais, como o SIMU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1 · DADOS E MÉTODO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GTFS de Fortaleza cruzado com população, renda e empregos do IPEA</a:t>
            </a:r>
            <a:endParaRPr lang="en-US" sz="2800" dirty="0"/>
          </a:p>
        </p:txBody>
      </p:sp>
      <p:sp>
        <p:nvSpPr>
          <p:cNvPr id="4" name="Cartão Fontes"/>
          <p:cNvSpPr/>
          <p:nvPr/>
        </p:nvSpPr>
        <p:spPr>
          <a:xfrm>
            <a:off x="548640" y="1828800"/>
            <a:ext cx="3520440" cy="40690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Hex Fontes"/>
          <p:cNvSpPr/>
          <p:nvPr/>
        </p:nvSpPr>
        <p:spPr>
          <a:xfrm>
            <a:off x="822960" y="2103120"/>
            <a:ext cx="640080" cy="55430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6" name="Ícone Fonte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082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Fontes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803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GTFS de Fortaleza enviado no case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IPEA – Acesso a Oportunidades: população e renda (Censo 2010), empregos formais (RAIS 2019) e acessibilidade por ônibus (2019)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Grade de hexágonos H3 de ~0,1 km²</a:t>
            </a:r>
            <a:endParaRPr lang="en-US" sz="1400" dirty="0"/>
          </a:p>
        </p:txBody>
      </p:sp>
      <p:sp>
        <p:nvSpPr>
          <p:cNvPr id="9" name="Cartão Método (R)"/>
          <p:cNvSpPr/>
          <p:nvPr/>
        </p:nvSpPr>
        <p:spPr>
          <a:xfrm>
            <a:off x="4297680" y="1828800"/>
            <a:ext cx="3520440" cy="406908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Hex Método (R)"/>
          <p:cNvSpPr/>
          <p:nvPr/>
        </p:nvSpPr>
        <p:spPr>
          <a:xfrm>
            <a:off x="4572000" y="2103120"/>
            <a:ext cx="640080" cy="55430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11" name="Ícone Método (R)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20827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Método (R)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803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 de referência: sábado, o dia com mais viagens no feed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Pico: 6h–8h; frequência = intervalo médio por linha e sentido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Cobertura: moradores a até 500 m de uma parada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Resultados por quintil de renda</a:t>
            </a:r>
            <a:endParaRPr lang="en-US" sz="1400" dirty="0"/>
          </a:p>
        </p:txBody>
      </p:sp>
      <p:sp>
        <p:nvSpPr>
          <p:cNvPr id="14" name="Cartão Limitações"/>
          <p:cNvSpPr/>
          <p:nvPr/>
        </p:nvSpPr>
        <p:spPr>
          <a:xfrm>
            <a:off x="8046720" y="1828800"/>
            <a:ext cx="3520440" cy="4069080"/>
          </a:xfrm>
          <a:prstGeom prst="roundRect">
            <a:avLst>
              <a:gd name="adj" fmla="val 2078"/>
            </a:avLst>
          </a:prstGeom>
          <a:solidFill>
            <a:srgbClr val="FBEFE2"/>
          </a:solidFill>
          <a:ln w="12700">
            <a:solidFill>
              <a:srgbClr val="FBEFE2"/>
            </a:solidFill>
            <a:prstDash val="solid"/>
          </a:ln>
        </p:spPr>
      </p:sp>
      <p:sp>
        <p:nvSpPr>
          <p:cNvPr id="15" name="Hex Limitações"/>
          <p:cNvSpPr/>
          <p:nvPr/>
        </p:nvSpPr>
        <p:spPr>
          <a:xfrm>
            <a:off x="8321040" y="2103120"/>
            <a:ext cx="640080" cy="554309"/>
          </a:xfrm>
          <a:prstGeom prst="hexagon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pic>
        <p:nvPicPr>
          <p:cNvPr id="16" name="Ícone Limitaçõe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208276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98280" y="2103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Limitações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880360"/>
            <a:ext cx="30175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Feed sem viagens de dia útil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População de 2010; acessibilidade do IPEA calculada com a rede de 2019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Distância em linha reta, não pela rua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GTFS é a oferta programada, não a realizada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1 · OFERTA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 sábado, o GTFS mostra 20,6 mil viagens e até 948 ônibus rodando ao mesmo tempo</a:t>
            </a:r>
            <a:endParaRPr lang="en-US" sz="2800" dirty="0"/>
          </a:p>
        </p:txBody>
      </p:sp>
      <p:sp>
        <p:nvSpPr>
          <p:cNvPr id="4" name="KPI linhas em operação"/>
          <p:cNvSpPr txBox="1"/>
          <p:nvPr/>
        </p:nvSpPr>
        <p:spPr>
          <a:xfrm>
            <a:off x="54864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273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linhas em operação</a:t>
            </a:r>
            <a:endParaRPr lang="en-US" sz="3400" dirty="0"/>
          </a:p>
        </p:txBody>
      </p:sp>
      <p:sp>
        <p:nvSpPr>
          <p:cNvPr id="5" name="KPI viagens programadas"/>
          <p:cNvSpPr txBox="1"/>
          <p:nvPr/>
        </p:nvSpPr>
        <p:spPr>
          <a:xfrm>
            <a:off x="548640" y="2852928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20.656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viagens programadas</a:t>
            </a:r>
            <a:endParaRPr lang="en-US" sz="3400" dirty="0"/>
          </a:p>
        </p:txBody>
      </p:sp>
      <p:sp>
        <p:nvSpPr>
          <p:cNvPr id="6" name="KPI quilômetros rodados"/>
          <p:cNvSpPr txBox="1"/>
          <p:nvPr/>
        </p:nvSpPr>
        <p:spPr>
          <a:xfrm>
            <a:off x="548640" y="387705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212 mil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quilômetros rodados</a:t>
            </a:r>
            <a:endParaRPr lang="en-US" sz="3400" dirty="0"/>
          </a:p>
        </p:txBody>
      </p:sp>
      <p:sp>
        <p:nvSpPr>
          <p:cNvPr id="7" name="KPI velocidade mediana"/>
          <p:cNvSpPr txBox="1"/>
          <p:nvPr/>
        </p:nvSpPr>
        <p:spPr>
          <a:xfrm>
            <a:off x="548640" y="4901184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15,4 km/h</a:t>
            </a:r>
            <a:endParaRPr lang="en-US" sz="3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velocidade mediana</a:t>
            </a:r>
            <a:endParaRPr lang="en-US" sz="3400" dirty="0"/>
          </a:p>
        </p:txBody>
      </p:sp>
      <p:graphicFrame>
        <p:nvGraphicFramePr>
          <p:cNvPr id="8" name="Gráfico ônibus em operação" descr=""/>
          <p:cNvGraphicFramePr/>
          <p:nvPr/>
        </p:nvGraphicFramePr>
        <p:xfrm>
          <a:off x="4023360" y="1783080"/>
          <a:ext cx="75895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Fonte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Fonte: GTFS de Fortaleza (case FNP). Horários intermediários interpolados entre os pontos de controle. Velocidade = distância entre paradas ÷ duração.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1 · FREQUÊNCIA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pico, só 1 em cada 5 linhas passa a cada 15 minutos ou menos</a:t>
            </a:r>
            <a:endParaRPr lang="en-US" sz="2800" dirty="0"/>
          </a:p>
        </p:txBody>
      </p:sp>
      <p:graphicFrame>
        <p:nvGraphicFramePr>
          <p:cNvPr id="4" name="Gráfico frequência no pico" descr=""/>
          <p:cNvGraphicFramePr/>
          <p:nvPr/>
        </p:nvGraphicFramePr>
        <p:xfrm>
          <a:off x="548640" y="1783080"/>
          <a:ext cx="6766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estaque 22%"/>
          <p:cNvSpPr txBox="1"/>
          <p:nvPr/>
        </p:nvSpPr>
        <p:spPr>
          <a:xfrm>
            <a:off x="7863840" y="17830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5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das combinações linha–sentido têm ônibus a cada 15 min ou menos no pico</a:t>
            </a:r>
            <a:endParaRPr lang="en-US" sz="5400" dirty="0"/>
          </a:p>
        </p:txBody>
      </p:sp>
      <p:sp>
        <p:nvSpPr>
          <p:cNvPr id="6" name="Cartão uso"/>
          <p:cNvSpPr/>
          <p:nvPr/>
        </p:nvSpPr>
        <p:spPr>
          <a:xfrm>
            <a:off x="7863840" y="3749040"/>
            <a:ext cx="374904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92440" y="3886200"/>
            <a:ext cx="3337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Como a prefeitura usa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Onde reforçar a frota no pico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Quais linhas se sobrepõem e podem ser reorganizadas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Meta de frequência mínima para o contrato</a:t>
            </a:r>
            <a:endParaRPr lang="en-US" sz="14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Fonte: GTFS de Fortaleza, sábado, 6h–8h. Intervalo = 120 min ÷ viagens no pico, por linha e sentido (sentido obtido do código do trajeto, -I/-V).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1 · MAPA DA REDE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mapa, os corredores de alta frequência aparecem com nitidez</a:t>
            </a:r>
            <a:endParaRPr lang="en-US" sz="2800" dirty="0"/>
          </a:p>
        </p:txBody>
      </p:sp>
      <p:pic>
        <p:nvPicPr>
          <p:cNvPr id="4" name="Mapa rede" descr="Mapa de Fortaleza com as paradas coloridas pelo número de ônibus por hora no p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118994" cy="4206240"/>
          </a:xfrm>
          <a:prstGeom prst="rect">
            <a:avLst/>
          </a:prstGeom>
        </p:spPr>
      </p:pic>
      <p:sp>
        <p:nvSpPr>
          <p:cNvPr id="5" name="Hex insight 0"/>
          <p:cNvSpPr/>
          <p:nvPr/>
        </p:nvSpPr>
        <p:spPr>
          <a:xfrm>
            <a:off x="6080760" y="1920240"/>
            <a:ext cx="457200" cy="395935"/>
          </a:xfrm>
          <a:prstGeom prst="hexagon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766560" y="18745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Mais de 30 ônibus/hora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Eixos radiais para o Centro e as avenidas que ligam os terminais (laranja).</a:t>
            </a:r>
            <a:endParaRPr lang="en-US" sz="1700" dirty="0"/>
          </a:p>
        </p:txBody>
      </p:sp>
      <p:sp>
        <p:nvSpPr>
          <p:cNvPr id="7" name="Hex insight 1"/>
          <p:cNvSpPr/>
          <p:nvPr/>
        </p:nvSpPr>
        <p:spPr>
          <a:xfrm>
            <a:off x="6080760" y="3246120"/>
            <a:ext cx="457200" cy="395935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320040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Malha de média frequência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Distribui o serviço pelos bairros, com 12 a 30 ônibus/hora (azul).</a:t>
            </a:r>
            <a:endParaRPr lang="en-US" sz="1700" dirty="0"/>
          </a:p>
        </p:txBody>
      </p:sp>
      <p:sp>
        <p:nvSpPr>
          <p:cNvPr id="9" name="Hex insight 2"/>
          <p:cNvSpPr/>
          <p:nvPr/>
        </p:nvSpPr>
        <p:spPr>
          <a:xfrm>
            <a:off x="6080760" y="4572000"/>
            <a:ext cx="457200" cy="395935"/>
          </a:xfrm>
          <a:prstGeom prst="hexagon">
            <a:avLst/>
          </a:prstGeom>
          <a:solidFill>
            <a:srgbClr val="1B2B34"/>
          </a:solidFill>
          <a:ln w="12700">
            <a:solidFill>
              <a:srgbClr val="1B2B3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766560" y="452628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Uso para a prefeitura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Priorizar faixas exclusivas, abrigos e fiscalização onde passa mais gente.</a:t>
            </a:r>
            <a:endParaRPr lang="en-US" sz="1700" dirty="0"/>
          </a:p>
        </p:txBody>
      </p:sp>
      <p:sp>
        <p:nvSpPr>
          <p:cNvPr id="11" name="Fonte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Fonte: GTFS de Fortaleza, sábado, 6h–8h. Cada ponto é uma parada; cor e tamanho indicam ônibus por hora no pico.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1 · COBERTURA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Quase todos moram perto de uma parada, mas 1 em cada 5 não tem ônibus frequente</a:t>
            </a:r>
            <a:endParaRPr lang="en-US" sz="2800" dirty="0"/>
          </a:p>
        </p:txBody>
      </p:sp>
      <p:pic>
        <p:nvPicPr>
          <p:cNvPr id="4" name="Mapa cobertura" descr="Mapa de cobertura por hexágono: ônibus frequente, pouco frequente, sem parada e sem morador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1737360"/>
            <a:ext cx="5051694" cy="4206240"/>
          </a:xfrm>
          <a:prstGeom prst="rect">
            <a:avLst/>
          </a:prstGeom>
        </p:spPr>
      </p:pic>
      <p:sp>
        <p:nvSpPr>
          <p:cNvPr id="5" name="Destaque 99,7%"/>
          <p:cNvSpPr txBox="1"/>
          <p:nvPr/>
        </p:nvSpPr>
        <p:spPr>
          <a:xfrm>
            <a:off x="548640" y="18288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99,7%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dos moradores vivem a até 500 m de uma parada</a:t>
            </a:r>
            <a:endParaRPr lang="en-US" sz="4000" dirty="0"/>
          </a:p>
        </p:txBody>
      </p:sp>
      <p:sp>
        <p:nvSpPr>
          <p:cNvPr id="6" name="Destaque 79,5%"/>
          <p:cNvSpPr txBox="1"/>
          <p:nvPr/>
        </p:nvSpPr>
        <p:spPr>
          <a:xfrm>
            <a:off x="548640" y="32004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79,5%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até 500 m de ônibus frequente (até 15 min no pico)</a:t>
            </a:r>
            <a:endParaRPr lang="en-US" sz="4000" dirty="0"/>
          </a:p>
        </p:txBody>
      </p:sp>
      <p:sp>
        <p:nvSpPr>
          <p:cNvPr id="7" name="Destaque ≈ 496 mil"/>
          <p:cNvSpPr txBox="1"/>
          <p:nvPr/>
        </p:nvSpPr>
        <p:spPr>
          <a:xfrm>
            <a:off x="548640" y="45720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496 mil</a:t>
            </a:r>
            <a:endParaRPr lang="en-US" sz="40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pessoas só contam com ônibus pouco frequente</a:t>
            </a:r>
            <a:endParaRPr lang="en-US" sz="4000" dirty="0"/>
          </a:p>
        </p:txBody>
      </p:sp>
      <p:sp>
        <p:nvSpPr>
          <p:cNvPr id="8" name="Fonte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Fontes: GTFS de Fortaleza; IPEA – Acesso a Oportunidades (população do Censo 2010 em hexágonos H3). Área de 500 m em linha reta ao redor das paradas.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1 · EQUIDADE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20% mais pobres têm menos ônibus frequente e alcançam bem menos empregos</a:t>
            </a:r>
            <a:endParaRPr lang="en-US" sz="2800" dirty="0"/>
          </a:p>
        </p:txBody>
      </p:sp>
      <p:graphicFrame>
        <p:nvGraphicFramePr>
          <p:cNvPr id="4" name="Gráfico equidade" descr=""/>
          <p:cNvGraphicFramePr/>
          <p:nvPr/>
        </p:nvGraphicFramePr>
        <p:xfrm>
          <a:off x="548640" y="178308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5" name="Mapa empregos" descr="Mapa do percentual de empregos alcançáveis em 60 minutos de ônib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4993" y="1783080"/>
            <a:ext cx="3487887" cy="2926080"/>
          </a:xfrm>
          <a:prstGeom prst="rect">
            <a:avLst/>
          </a:prstGeom>
        </p:spPr>
      </p:pic>
      <p:sp>
        <p:nvSpPr>
          <p:cNvPr id="6" name="Destaque 2,5x"/>
          <p:cNvSpPr txBox="1"/>
          <p:nvPr/>
        </p:nvSpPr>
        <p:spPr>
          <a:xfrm>
            <a:off x="8001000" y="46634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2,5×</a:t>
            </a:r>
            <a:endParaRPr lang="en-US" sz="3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mais empregos ao alcance de quem mora nas áreas mais ricas</a:t>
            </a:r>
            <a:endParaRPr lang="en-US" sz="3600" dirty="0"/>
          </a:p>
        </p:txBody>
      </p:sp>
      <p:sp>
        <p:nvSpPr>
          <p:cNvPr id="7" name="Fonte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Fontes: GTFS de Fortaleza; IPEA – Acesso a Oportunidades (renda: Censo 2010; empregos: RAIS 2019; acessibilidade por ônibus no pico calculada pelo IPEA com o GTFS de 2019).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1 · QUALIDADE DO DADO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próprio feed de Fortaleza mostra que publicar não basta: é preciso validar e manter</a:t>
            </a:r>
            <a:endParaRPr lang="en-US" sz="2800" dirty="0"/>
          </a:p>
        </p:txBody>
      </p:sp>
      <p:sp>
        <p:nvSpPr>
          <p:cNvPr id="4" name="Problema viagens de dia útil"/>
          <p:cNvSpPr/>
          <p:nvPr/>
        </p:nvSpPr>
        <p:spPr>
          <a:xfrm>
            <a:off x="548640" y="18288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BEFE2"/>
          </a:solidFill>
          <a:ln w="12700">
            <a:solidFill>
              <a:srgbClr val="FBEF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65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viagens de dia útil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O serviço de dia útil existe no calendário, mas nenhuma viagem usa esse serviço</a:t>
            </a:r>
            <a:endParaRPr lang="en-US" sz="2800" dirty="0"/>
          </a:p>
        </p:txBody>
      </p:sp>
      <p:sp>
        <p:nvSpPr>
          <p:cNvPr id="6" name="Problema fim da validade"/>
          <p:cNvSpPr/>
          <p:nvPr/>
        </p:nvSpPr>
        <p:spPr>
          <a:xfrm>
            <a:off x="4297680" y="18288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BEFE2"/>
          </a:solidFill>
          <a:ln w="12700">
            <a:solidFill>
              <a:srgbClr val="FBEFE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965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03/07/2026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fim da validade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Feed vencido: os apps deixam de mostrar os horários</a:t>
            </a:r>
            <a:endParaRPr lang="en-US" sz="2800" dirty="0"/>
          </a:p>
        </p:txBody>
      </p:sp>
      <p:sp>
        <p:nvSpPr>
          <p:cNvPr id="8" name="Problema campos vazios"/>
          <p:cNvSpPr/>
          <p:nvPr/>
        </p:nvSpPr>
        <p:spPr>
          <a:xfrm>
            <a:off x="8046720" y="18288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BEFE2"/>
          </a:solidFill>
          <a:ln w="12700">
            <a:solidFill>
              <a:srgbClr val="FBEF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75320" y="19659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campos vazios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Sentido, destino, veículo e acessibilidade não foram preenchidos</a:t>
            </a:r>
            <a:endParaRPr lang="en-US" sz="2800" dirty="0"/>
          </a:p>
        </p:txBody>
      </p:sp>
      <p:sp>
        <p:nvSpPr>
          <p:cNvPr id="10" name="Problema trajetos incoerentes"/>
          <p:cNvSpPr/>
          <p:nvPr/>
        </p:nvSpPr>
        <p:spPr>
          <a:xfrm>
            <a:off x="548640" y="36576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BEFE2"/>
          </a:solidFill>
          <a:ln w="12700">
            <a:solidFill>
              <a:srgbClr val="FBEF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794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trajetos incoerentes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Viagens de linhas circulares apontam para o trajeto completo (~60 km)</a:t>
            </a:r>
            <a:endParaRPr lang="en-US" sz="2800" dirty="0"/>
          </a:p>
        </p:txBody>
      </p:sp>
      <p:sp>
        <p:nvSpPr>
          <p:cNvPr id="12" name="Problema linhas sem viagem"/>
          <p:cNvSpPr/>
          <p:nvPr/>
        </p:nvSpPr>
        <p:spPr>
          <a:xfrm>
            <a:off x="4297680" y="365760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BEFE2"/>
          </a:solidFill>
          <a:ln w="12700">
            <a:solidFill>
              <a:srgbClr val="FBEF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3794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linhas sem viagem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Expressos e linhas universitárias cadastradas, sem horários</a:t>
            </a:r>
            <a:endParaRPr lang="en-US" sz="2800" dirty="0"/>
          </a:p>
        </p:txBody>
      </p:sp>
      <p:sp>
        <p:nvSpPr>
          <p:cNvPr id="14" name="Problema horários vazios"/>
          <p:cNvSpPr/>
          <p:nvPr/>
        </p:nvSpPr>
        <p:spPr>
          <a:xfrm>
            <a:off x="8046720" y="3657600"/>
            <a:ext cx="352044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3794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17,8%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horários vazios</a:t>
            </a:r>
            <a:endParaRPr lang="en-US" sz="2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Esperado: só pontos de controle têm hora; os demais foram interpolados</a:t>
            </a:r>
            <a:endParaRPr lang="en-US" sz="2800" dirty="0"/>
          </a:p>
        </p:txBody>
      </p:sp>
      <p:sp>
        <p:nvSpPr>
          <p:cNvPr id="16" name="Ponte Desafio 2"/>
          <p:cNvSpPr txBox="1"/>
          <p:nvPr/>
        </p:nvSpPr>
        <p:spPr>
          <a:xfrm>
            <a:off x="548640" y="559612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→  Erros que um validador automático aponta em minutos. É aqui que entra o Desafio 2.</a:t>
            </a:r>
            <a:endParaRPr lang="en-US" sz="1600" dirty="0"/>
          </a:p>
        </p:txBody>
      </p:sp>
      <p:sp>
        <p:nvSpPr>
          <p:cNvPr id="17" name="Fonte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Fonte: arquivo GTFS de Fortaleza recebido no case (verificação própria em R).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2 · PROPOSTA DE ATUAÇÃO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Acompanhar o município em cinco etapas, cada uma com uma entrega concreta</a:t>
            </a:r>
            <a:endParaRPr lang="en-US" sz="2800" dirty="0"/>
          </a:p>
        </p:txBody>
      </p:sp>
      <p:sp>
        <p:nvSpPr>
          <p:cNvPr id="4" name="Linha do tempo"/>
          <p:cNvSpPr/>
          <p:nvPr/>
        </p:nvSpPr>
        <p:spPr>
          <a:xfrm>
            <a:off x="1097280" y="2212848"/>
            <a:ext cx="8961120" cy="0"/>
          </a:xfrm>
          <a:prstGeom prst="line">
            <a:avLst/>
          </a:prstGeom>
          <a:noFill/>
          <a:ln w="25400">
            <a:solidFill>
              <a:srgbClr val="D9DCD6"/>
            </a:solidFill>
            <a:prstDash val="solid"/>
          </a:ln>
        </p:spPr>
      </p:sp>
      <p:sp>
        <p:nvSpPr>
          <p:cNvPr id="5" name="Hex etapa 1"/>
          <p:cNvSpPr/>
          <p:nvPr/>
        </p:nvSpPr>
        <p:spPr>
          <a:xfrm>
            <a:off x="704088" y="1828800"/>
            <a:ext cx="868680" cy="75227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6" name="Ícone etapa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751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1. Mobilizar</a:t>
            </a:r>
            <a:endParaRPr lang="en-US" sz="17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Mês 1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Reunião com o prefeito e a secretaria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Ponto focal e termo de adesão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Oficina: o que o GTFS entrega</a:t>
            </a:r>
            <a:endParaRPr lang="en-US" sz="1300" dirty="0"/>
          </a:p>
        </p:txBody>
      </p:sp>
      <p:sp>
        <p:nvSpPr>
          <p:cNvPr id="9" name="Entrega 1"/>
          <p:cNvSpPr/>
          <p:nvPr/>
        </p:nvSpPr>
        <p:spPr>
          <a:xfrm>
            <a:off x="548640" y="51206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580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Entrega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Plano de trabalho</a:t>
            </a:r>
            <a:endParaRPr lang="en-US" sz="1100" dirty="0"/>
          </a:p>
        </p:txBody>
      </p:sp>
      <p:sp>
        <p:nvSpPr>
          <p:cNvPr id="11" name="Hex etapa 2"/>
          <p:cNvSpPr/>
          <p:nvPr/>
        </p:nvSpPr>
        <p:spPr>
          <a:xfrm>
            <a:off x="2944368" y="1828800"/>
            <a:ext cx="868680" cy="75227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12" name="Ícone etapa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1975104"/>
            <a:ext cx="384048" cy="38404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8892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2. Inventariar</a:t>
            </a:r>
            <a:endParaRPr lang="en-US" sz="17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Meses 1–2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2788920" y="342900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Quem tem linhas, horários, trajetos e pontos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Formato e atualidade de cada fonte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Linhas-piloto</a:t>
            </a:r>
            <a:endParaRPr lang="en-US" sz="1300" dirty="0"/>
          </a:p>
        </p:txBody>
      </p:sp>
      <p:sp>
        <p:nvSpPr>
          <p:cNvPr id="15" name="Entrega 2"/>
          <p:cNvSpPr/>
          <p:nvPr/>
        </p:nvSpPr>
        <p:spPr>
          <a:xfrm>
            <a:off x="2788920" y="51206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92608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Entrega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Matriz de dados</a:t>
            </a:r>
            <a:endParaRPr lang="en-US" sz="1100" dirty="0"/>
          </a:p>
        </p:txBody>
      </p:sp>
      <p:sp>
        <p:nvSpPr>
          <p:cNvPr id="17" name="Hex etapa 3"/>
          <p:cNvSpPr/>
          <p:nvPr/>
        </p:nvSpPr>
        <p:spPr>
          <a:xfrm>
            <a:off x="5184648" y="1828800"/>
            <a:ext cx="868680" cy="75227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18" name="Ícone etapa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1536" y="197510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02920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3. Construir</a:t>
            </a:r>
            <a:endParaRPr lang="en-US" sz="17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Meses 2–4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029200" y="342900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Editor GTFS gratuito, sem código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Começar pelas linhas-piloto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Capacitação prática da equipe</a:t>
            </a:r>
            <a:endParaRPr lang="en-US" sz="1300" dirty="0"/>
          </a:p>
        </p:txBody>
      </p:sp>
      <p:sp>
        <p:nvSpPr>
          <p:cNvPr id="21" name="Entrega 3"/>
          <p:cNvSpPr/>
          <p:nvPr/>
        </p:nvSpPr>
        <p:spPr>
          <a:xfrm>
            <a:off x="5029200" y="51206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516636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Entrega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Primeiro feed</a:t>
            </a:r>
            <a:endParaRPr lang="en-US" sz="1100" dirty="0"/>
          </a:p>
        </p:txBody>
      </p:sp>
      <p:sp>
        <p:nvSpPr>
          <p:cNvPr id="23" name="Hex etapa 4"/>
          <p:cNvSpPr/>
          <p:nvPr/>
        </p:nvSpPr>
        <p:spPr>
          <a:xfrm>
            <a:off x="7424928" y="1828800"/>
            <a:ext cx="868680" cy="75227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24" name="Ícone etapa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1975104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26948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4. Validar</a:t>
            </a:r>
            <a:endParaRPr lang="en-US" sz="17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Meses 4–5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7269480" y="342900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Validador da MobilityData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Conferência com operadoras e GPS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Teste em campo e em apps</a:t>
            </a:r>
            <a:endParaRPr lang="en-US" sz="1300" dirty="0"/>
          </a:p>
        </p:txBody>
      </p:sp>
      <p:sp>
        <p:nvSpPr>
          <p:cNvPr id="27" name="Entrega 4"/>
          <p:cNvSpPr/>
          <p:nvPr/>
        </p:nvSpPr>
        <p:spPr>
          <a:xfrm>
            <a:off x="7269480" y="51206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40664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Entrega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Feed sem erros</a:t>
            </a:r>
            <a:endParaRPr lang="en-US" sz="1100" dirty="0"/>
          </a:p>
        </p:txBody>
      </p:sp>
      <p:sp>
        <p:nvSpPr>
          <p:cNvPr id="29" name="Hex etapa 5"/>
          <p:cNvSpPr/>
          <p:nvPr/>
        </p:nvSpPr>
        <p:spPr>
          <a:xfrm>
            <a:off x="9665208" y="1828800"/>
            <a:ext cx="868680" cy="752277"/>
          </a:xfrm>
          <a:prstGeom prst="hexagon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pic>
        <p:nvPicPr>
          <p:cNvPr id="30" name="Ícone etapa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12096" y="1975104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509760" y="2697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5. Publicar e manter</a:t>
            </a:r>
            <a:endParaRPr lang="en-US" sz="1700" dirty="0"/>
          </a:p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Mês 6 em diante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9509760" y="3429000"/>
            <a:ext cx="2103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Link fixo no portal de dados abertos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Envio ao Google Maps e outros apps</a:t>
            </a:r>
            <a:endParaRPr lang="en-US" sz="13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Atualizar a cada mudança</a:t>
            </a:r>
            <a:endParaRPr lang="en-US" sz="1300" dirty="0"/>
          </a:p>
        </p:txBody>
      </p:sp>
      <p:sp>
        <p:nvSpPr>
          <p:cNvPr id="33" name="Entrega 5"/>
          <p:cNvSpPr/>
          <p:nvPr/>
        </p:nvSpPr>
        <p:spPr>
          <a:xfrm>
            <a:off x="9509760" y="51206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9646920" y="51206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Entrega</a:t>
            </a:r>
            <a:endParaRPr lang="en-US" sz="11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Rotina instituída</a:t>
            </a:r>
            <a:endParaRPr lang="en-US" sz="1100" dirty="0"/>
          </a:p>
        </p:txBody>
      </p:sp>
      <p:sp>
        <p:nvSpPr>
          <p:cNvPr id="35" name="Fonte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Prazos indicativos, a ajustar ao porte do município e à situação dos dados. Ferramentas citadas: editor GTFS disponibilizado à FNP em parceria com Google/Bus2; MobilityData GTFS Validator.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2 · ATORES E APOIO TÉCNICO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Mobilizar quem tem os dados e dar à equipe local um apoio simples e contínuo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Quem tem cada informação</a:t>
            </a:r>
            <a:endParaRPr lang="en-US" sz="1800" dirty="0"/>
          </a:p>
        </p:txBody>
      </p:sp>
      <p:sp>
        <p:nvSpPr>
          <p:cNvPr id="5" name="Hex ator 0"/>
          <p:cNvSpPr/>
          <p:nvPr/>
        </p:nvSpPr>
        <p:spPr>
          <a:xfrm>
            <a:off x="548640" y="2331720"/>
            <a:ext cx="640080" cy="55430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6" name="Ícone ator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243687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22860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Prefeitura (órgão gestor)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Ordens de serviço, quadros de horário, cadastro de pontos. Decide e publica.</a:t>
            </a:r>
            <a:endParaRPr lang="en-US" sz="1500" dirty="0"/>
          </a:p>
        </p:txBody>
      </p:sp>
      <p:sp>
        <p:nvSpPr>
          <p:cNvPr id="8" name="Hex ator 1"/>
          <p:cNvSpPr/>
          <p:nvPr/>
        </p:nvSpPr>
        <p:spPr>
          <a:xfrm>
            <a:off x="548640" y="3246120"/>
            <a:ext cx="640080" cy="55430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9" name="Ícone ator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35127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32004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Operadoras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Itinerários praticados, horários reais e frota.</a:t>
            </a:r>
            <a:endParaRPr lang="en-US" sz="1500" dirty="0"/>
          </a:p>
        </p:txBody>
      </p:sp>
      <p:sp>
        <p:nvSpPr>
          <p:cNvPr id="11" name="Hex ator 2"/>
          <p:cNvSpPr/>
          <p:nvPr/>
        </p:nvSpPr>
        <p:spPr>
          <a:xfrm>
            <a:off x="548640" y="4160520"/>
            <a:ext cx="640080" cy="55430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12" name="Ícone ator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26567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41148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Fornecedores de tecnologia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GPS dos ônibus e bilhetagem: trajetos e cadastro de linhas.</a:t>
            </a:r>
            <a:endParaRPr lang="en-US" sz="1500" dirty="0"/>
          </a:p>
        </p:txBody>
      </p:sp>
      <p:sp>
        <p:nvSpPr>
          <p:cNvPr id="14" name="Hex ator 3"/>
          <p:cNvSpPr/>
          <p:nvPr/>
        </p:nvSpPr>
        <p:spPr>
          <a:xfrm>
            <a:off x="548640" y="5074920"/>
            <a:ext cx="640080" cy="55430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pic>
        <p:nvPicPr>
          <p:cNvPr id="15" name="Ícone ator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18007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5029200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Parceiros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Ministério das Cidades (SIMU), universidades e outros municípios.</a:t>
            </a:r>
            <a:endParaRPr lang="en-US" sz="1500" dirty="0"/>
          </a:p>
        </p:txBody>
      </p:sp>
      <p:sp>
        <p:nvSpPr>
          <p:cNvPr id="17" name="Cartão apoio FNP"/>
          <p:cNvSpPr/>
          <p:nvPr/>
        </p:nvSpPr>
        <p:spPr>
          <a:xfrm>
            <a:off x="6720840" y="1783080"/>
            <a:ext cx="4892040" cy="4114800"/>
          </a:xfrm>
          <a:prstGeom prst="roundRect">
            <a:avLst>
              <a:gd name="adj" fmla="val 1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995160" y="19659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Como a FNP organiza o apoio</a:t>
            </a:r>
            <a:endParaRPr lang="en-US" sz="1800" dirty="0"/>
          </a:p>
        </p:txBody>
      </p:sp>
      <p:pic>
        <p:nvPicPr>
          <p:cNvPr id="19" name="Ícone apoio 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651760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7543800" y="256032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Ponto focal na FNP e no município, com agenda quinzenal</a:t>
            </a:r>
            <a:endParaRPr lang="en-US" sz="1400" dirty="0"/>
          </a:p>
        </p:txBody>
      </p:sp>
      <p:pic>
        <p:nvPicPr>
          <p:cNvPr id="21" name="Ícone apoio 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3291840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543800" y="320040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Capacitação em 3 módulos: GTFS, editor, validação</a:t>
            </a:r>
            <a:endParaRPr lang="en-US" sz="1400" dirty="0"/>
          </a:p>
        </p:txBody>
      </p:sp>
      <p:pic>
        <p:nvPicPr>
          <p:cNvPr id="23" name="Ícone apoio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0" y="3931920"/>
            <a:ext cx="310896" cy="31089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543800" y="384048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Kit: modelo de inventário, planilhas e guia passo a passo</a:t>
            </a:r>
            <a:endParaRPr lang="en-US" sz="1400" dirty="0"/>
          </a:p>
        </p:txBody>
      </p:sp>
      <p:pic>
        <p:nvPicPr>
          <p:cNvPr id="25" name="Ícone apoio 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4572000"/>
            <a:ext cx="310896" cy="310896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543800" y="4480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Plantão de dúvidas e revisão dos arquivos</a:t>
            </a:r>
            <a:endParaRPr lang="en-US" sz="1400" dirty="0"/>
          </a:p>
        </p:txBody>
      </p:sp>
      <p:pic>
        <p:nvPicPr>
          <p:cNvPr id="27" name="Ícone apoio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0" y="5212080"/>
            <a:ext cx="310896" cy="310896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543800" y="512064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Rede de pares com municípios que já publicam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DESAFIO 2 · DIFICULDADES E ESTRATÉGIAS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Antecipar as dificuldades técnicas e institucionais mais prováveis</a:t>
            </a:r>
            <a:endParaRPr lang="en-US" sz="2800" dirty="0"/>
          </a:p>
        </p:txBody>
      </p:sp>
      <p:graphicFrame>
        <p:nvGraphicFramePr>
          <p:cNvPr id="13" name="Tabela risc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71323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Dificuldade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Estratégia</a:t>
                      </a:r>
                      <a:endParaRPr lang="en-US" sz="15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5E6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</a:rPr>
                        <a:t>Equipe pequena e sem experiência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</a:rPr>
                        <a:t>Ferramentas sem código, começo por poucas linhas e a FNP fazendo junto até a equipe ganhar autonomia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</a:rPr>
                        <a:t>Dados com operadoras, sem obrigação de entregar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</a:rPr>
                        <a:t>Ofício do prefeito e acordo de cooperação; depois, cláusula de entrega de dados no padrão nos contratos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</a:rPr>
                        <a:t>Informações desatualizadas ou divergentes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</a:rPr>
                        <a:t>Conferência em campo das linhas-piloto e cruzamento com o GPS dos ônibus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</a:rPr>
                        <a:t>Feed publicado e esquecido (caso de Fortaleza)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</a:rPr>
                        <a:t>Atualização a cada mudança de ordem de serviço, validação automática e alerta de vencimento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B34"/>
                          </a:solidFill>
                        </a:rPr>
                        <a:t>Troca de gestão ou de equipe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B34"/>
                          </a:solidFill>
                        </a:rPr>
                        <a:t>Responsável formal, processo documentado e ato normativo de dados abertos</a:t>
                      </a:r>
                      <a:endParaRPr lang="en-US" sz="1400" dirty="0"/>
                    </a:p>
                  </a:txBody>
                  <a:tcPr marL="137160" marR="13716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EM RESUMO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87452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organizado vira decisão melhor</a:t>
            </a:r>
            <a:endParaRPr lang="en-US" sz="4600" dirty="0"/>
          </a:p>
        </p:txBody>
      </p:sp>
      <p:sp>
        <p:nvSpPr>
          <p:cNvPr id="4" name="Hex resumo 1"/>
          <p:cNvSpPr/>
          <p:nvPr/>
        </p:nvSpPr>
        <p:spPr>
          <a:xfrm>
            <a:off x="731520" y="3566160"/>
            <a:ext cx="502920" cy="43552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566160"/>
            <a:ext cx="502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35204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GTFS mede oferta, frequência, cobertura e equidade. Em Fortaleza, 1 em cada 5 moradores não tem ônibus frequente perto de casa.</a:t>
            </a:r>
            <a:endParaRPr lang="en-US" sz="1500" dirty="0"/>
          </a:p>
        </p:txBody>
      </p:sp>
      <p:sp>
        <p:nvSpPr>
          <p:cNvPr id="7" name="Hex resumo 2"/>
          <p:cNvSpPr/>
          <p:nvPr/>
        </p:nvSpPr>
        <p:spPr>
          <a:xfrm>
            <a:off x="731520" y="4343400"/>
            <a:ext cx="502920" cy="435529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343400"/>
            <a:ext cx="502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42976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valor depende de qualidade e atualização: um feed vencido ou incompleto deixa de servir ao passageiro e à gestão.</a:t>
            </a:r>
            <a:endParaRPr lang="en-US" sz="1500" dirty="0"/>
          </a:p>
        </p:txBody>
      </p:sp>
      <p:sp>
        <p:nvSpPr>
          <p:cNvPr id="10" name="Hex resumo 3"/>
          <p:cNvSpPr/>
          <p:nvPr/>
        </p:nvSpPr>
        <p:spPr>
          <a:xfrm>
            <a:off x="731520" y="5120640"/>
            <a:ext cx="502920" cy="435529"/>
          </a:xfrm>
          <a:prstGeom prst="hexagon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120640"/>
            <a:ext cx="502920" cy="435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507492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FNP pode encurtar o caminho com etapas claras, ferramentas simples e rotina de manutenção.</a:t>
            </a:r>
            <a:endParaRPr lang="en-US" sz="1500" dirty="0"/>
          </a:p>
        </p:txBody>
      </p:sp>
      <p:sp>
        <p:nvSpPr>
          <p:cNvPr id="13" name="Contato"/>
          <p:cNvSpPr txBox="1"/>
          <p:nvPr/>
        </p:nvSpPr>
        <p:spPr>
          <a:xfrm>
            <a:off x="73152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Obrigada!  ·  Código em R e dados: github.com/rayssalorrane/case-gtfs-fortaleza</a:t>
            </a:r>
            <a:endParaRPr lang="en-US" sz="1300" dirty="0"/>
          </a:p>
        </p:txBody>
      </p:sp>
      <p:sp>
        <p:nvSpPr>
          <p:cNvPr id="14" name="Colmeia fim 0-0"/>
          <p:cNvSpPr/>
          <p:nvPr/>
        </p:nvSpPr>
        <p:spPr>
          <a:xfrm>
            <a:off x="8595360" y="1737360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5" name="Colmeia fim 0-1"/>
          <p:cNvSpPr/>
          <p:nvPr/>
        </p:nvSpPr>
        <p:spPr>
          <a:xfrm>
            <a:off x="8595360" y="2681569"/>
            <a:ext cx="1005840" cy="871057"/>
          </a:xfrm>
          <a:prstGeom prst="hexagon">
            <a:avLst/>
          </a:prstGeom>
          <a:solidFill>
            <a:srgbClr val="7FB7BE"/>
          </a:solidFill>
          <a:ln w="12700">
            <a:solidFill>
              <a:srgbClr val="7FB7BE"/>
            </a:solidFill>
            <a:prstDash val="solid"/>
          </a:ln>
        </p:spPr>
      </p:sp>
      <p:sp>
        <p:nvSpPr>
          <p:cNvPr id="16" name="Colmeia fim 0-2"/>
          <p:cNvSpPr/>
          <p:nvPr/>
        </p:nvSpPr>
        <p:spPr>
          <a:xfrm>
            <a:off x="8595360" y="3625779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7" name="Colmeia fim 1-0"/>
          <p:cNvSpPr/>
          <p:nvPr/>
        </p:nvSpPr>
        <p:spPr>
          <a:xfrm>
            <a:off x="9447444" y="2209465"/>
            <a:ext cx="1005840" cy="871057"/>
          </a:xfrm>
          <a:prstGeom prst="hexagon">
            <a:avLst/>
          </a:prstGeom>
          <a:solidFill>
            <a:srgbClr val="E8871E"/>
          </a:solidFill>
          <a:ln w="12700">
            <a:solidFill>
              <a:srgbClr val="E8871E"/>
            </a:solidFill>
            <a:prstDash val="solid"/>
          </a:ln>
        </p:spPr>
      </p:sp>
      <p:sp>
        <p:nvSpPr>
          <p:cNvPr id="18" name="Colmeia fim 1-1"/>
          <p:cNvSpPr/>
          <p:nvPr/>
        </p:nvSpPr>
        <p:spPr>
          <a:xfrm>
            <a:off x="9447444" y="3153674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9" name="Colmeia fim 1-2"/>
          <p:cNvSpPr/>
          <p:nvPr/>
        </p:nvSpPr>
        <p:spPr>
          <a:xfrm>
            <a:off x="9447444" y="4097884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0" name="Colmeia fim 2-0"/>
          <p:cNvSpPr/>
          <p:nvPr/>
        </p:nvSpPr>
        <p:spPr>
          <a:xfrm>
            <a:off x="10299527" y="1737360"/>
            <a:ext cx="1005840" cy="871057"/>
          </a:xfrm>
          <a:prstGeom prst="hexagon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1" name="Colmeia fim 2-1"/>
          <p:cNvSpPr/>
          <p:nvPr/>
        </p:nvSpPr>
        <p:spPr>
          <a:xfrm>
            <a:off x="10299527" y="2681569"/>
            <a:ext cx="1005840" cy="871057"/>
          </a:xfrm>
          <a:prstGeom prst="hexagon">
            <a:avLst/>
          </a:prstGeom>
          <a:solidFill>
            <a:srgbClr val="7FB7BE"/>
          </a:solidFill>
          <a:ln w="12700">
            <a:solidFill>
              <a:srgbClr val="7FB7BE"/>
            </a:solidFill>
            <a:prstDash val="solid"/>
          </a:ln>
        </p:spPr>
      </p:sp>
      <p:sp>
        <p:nvSpPr>
          <p:cNvPr id="23" name="Text 0"/>
          <p:cNvSpPr/>
          <p:nvPr>
            <p:ph idx="102" type="body" hasCustomPrompt="1"/>
          </p:nvPr>
        </p:nvSpPr>
        <p:spPr>
          <a:xfrm>
            <a:off x="731520" y="39776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NP Mobilidade">
  <a:themeElements>
    <a:clrScheme name="FNP Mobilidade">
      <a:dk1>
        <a:srgbClr val="1B2B34"/>
      </a:dk1>
      <a:lt1>
        <a:srgbClr val="FFFFFF"/>
      </a:lt1>
      <a:dk2>
        <a:srgbClr val="0E5E6F"/>
      </a:dk2>
      <a:lt2>
        <a:srgbClr val="EEF4F4"/>
      </a:lt2>
      <a:accent1>
        <a:srgbClr val="0E5E6F"/>
      </a:accent1>
      <a:accent2>
        <a:srgbClr val="E8871E"/>
      </a:accent2>
      <a:accent3>
        <a:srgbClr val="C8553D"/>
      </a:accent3>
      <a:accent4>
        <a:srgbClr val="7FB7BE"/>
      </a:accent4>
      <a:accent5>
        <a:srgbClr val="5C6B73"/>
      </a:accent5>
      <a:accent6>
        <a:srgbClr val="D9DCD6"/>
      </a:accent6>
      <a:hlink>
        <a:srgbClr val="0E5E6F"/>
      </a:hlink>
      <a:folHlink>
        <a:srgbClr val="5C6B73"/>
      </a:folHlink>
    </a:clrScheme>
    <a:fontScheme name="FNP Mobilidad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GTFS a serviço da gestão municipal – Case FNP</dc:title>
  <dc:subject>PptxGenJS Presentation</dc:subject>
  <dc:creator>Rayssa Lorrane</dc:creator>
  <cp:lastModifiedBy>Rayssa Lorrane</cp:lastModifiedBy>
  <cp:revision>1</cp:revision>
  <dcterms:created xsi:type="dcterms:W3CDTF">2026-10-26T23:58:11Z</dcterms:created>
  <dcterms:modified xsi:type="dcterms:W3CDTF">2026-10-26T23:58:11Z</dcterms:modified>
</cp:coreProperties>
</file>